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d813e59-bc11-60b5-380a-85143c7e192c}">
          <p14:sldIdLst>
            <p14:sldId id="256"/>
          </p14:sldIdLst>
        </p14:section>
        <p14:section name="Innovations" id="{f896ca4f-8792-b835-6b58-26323c6295da}">
          <p14:sldIdLst>
            <p14:sldId id="257"/>
            <p14:sldId id="258"/>
            <p14:sldId id="259"/>
          </p14:sldIdLst>
        </p14:section>
        <p14:section name="Conclusion" id="{bebf60ab-35cc-6a20-4873-2253ab2b0781}">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première innovation est un nuage à l'intérieur d'un musée.
Qu'est-ce que c'est ? À la Bourse de Commerce, à Paris, l'artiste japonaise Fujiko Nakaya, 93 ans, a créé une sculpture de brouillard. Des buses au sol projettent de minuscules gouttes d'eau. Par cycles de quinze minutes, le brouillard remplit la Rotonde, puis disparaît. L'œuvre était présentée jusqu'au 14 septembre.
Pourquoi est-ce intéressant ? Le visiteur ne regarde pas l'œuvre : il marche dedans. Dans le brouillard, on ne voit plus la personne devant soi. Il n'y a pas d'écran, seulement de l'eau. Beaucoup de visiteurs l'ont filmé et partagé sur TikTok.
Qu'est-ce que l'événementiel peut en apprendre ? Un élément simple peut créer une émotion très forte. L'innovation ne commence pas par la technologie, mais par ce que le participant ressent.
— VI —
Innovation thứ nhất của tôi là một đám mây ở bên trong một bảo tàng.
Đó là gì? Tại Bourse de Commerce ở Paris, nữ nghệ sĩ Nhật Bản Fujiko Nakaya, 93 tuổi, đã tạo ra một tác phẩm điêu khắc bằng sương mù. Các vòi phun đặt dưới sàn phun ra những hạt nước siêu nhỏ. Theo từng chu kỳ 15 phút, sương mù lấp đầy sảnh tròn Rotonde rồi tan đi. Tác phẩm được trưng bày đến ngày 14/9.
Vì sao thú vị? Khách không đứng nhìn tác phẩm: họ bước vào bên trong nó. Trong làn sương, ta không còn nhìn thấy người đứng ngay trước mặt. Không có màn hình nào, chỉ có nước. Rất nhiều khách đã quay video và chia sẻ lên TikTok.
Ngành sự kiện học được gì? Một yếu tố đơn giản cũng có thể tạo ra cảm xúc rất mạnh. Innovation không bắt đầu từ công nghệ, mà từ những gì người tham gia cảm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deuxième innovation est l'Emotion Lab de SK Telecom, à Séoul.
Qu'est-ce que c'est ? SK Telecom, le plus grand opérateur mobile coréen, propose depuis le 19 septembre une expérience gratuite. Le visiteur regarde la photo d'une personne qu'il aime, et un appareil mesure ses ondes cérébrales. Ensuite, il sent onze parfums. On garde les trois parfums qui donnent la réaction la plus proche de la photo, et on les mélange. Le visiteur repart avec ce parfum unique et une lettre qu'il a écrite.
Pourquoi est-ce intéressant ? Un opérateur vend normalement quelque chose d'invisible : des données. Ici, il transforme ces données en émotion. Le parfum ne dépend pas des goûts du visiteur : il représente une personne aimée.
Qu'est-ce que l'événementiel peut en apprendre ? La technologie doit servir l'émotion. Et le participant doit repartir avec un souvenir unique.
— VI —
Innovation thứ hai của tôi là Emotion Lab của SK Telecom, ở Seoul.
Đó là gì? SK Telecom, nhà mạng di động lớn nhất Hàn Quốc, từ ngày 19/9 tổ chức một trải nghiệm miễn phí. Khách nhìn ảnh một người họ yêu thương, và một thiết bị đo sóng não của họ. Sau đó, khách ngửi 11 mùi hương. Người ta giữ lại 3 mùi tạo ra phản ứng gần nhất với lúc nhìn ảnh, rồi pha trộn chúng. Khách ra về với chai nước hoa độc nhất đó và một lá thư do chính mình viết.
Vì sao thú vị? Bình thường, nhà mạng bán một thứ vô hình: dữ liệu. Ở đây, họ biến dữ liệu thành cảm xúc. Mùi nước hoa không phụ thuộc vào sở thích của khách: nó đại diện cho một người họ yêu thương.
Ngành sự kiện học được gì? Công nghệ phải phục vụ cảm xúc. Và người tham gia phải ra về với một kỷ niệm độc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troisième innovation est la Bibliothèque vivante, aux Archives nationales, à Paris.
Qu'est-ce que c'est ? Pendant les Journées du patrimoine, les 19 et 20 septembre, l'artiste Fanny de Chaillé a présenté ce projet. Ici, on n'emprunte pas un livre, on emprunte une personne. Des volontaires ont préparé leur histoire avec l'artiste. Le visiteur choisit un « livre vivant » et parle avec lui vingt minutes, en tête-à-tête.
Pourquoi est-ce intéressant ? Pas de technologie, pas d'écran : seulement deux personnes qui se parlent. Dans un lieu plein de documents écrits, ce sont des personnes vivantes qui racontent. Le visiteur n'écoute pas une conférence : il participe à une conversation.
Qu'est-ce que l'événementiel peut en apprendre ? Dans un grand événement, un moment en tête-à-tête peut être le plus mémorable. Ce qui compte, c'est l'émotion et l'humain.
— VI —
Innovation thứ ba của tôi là Thư viện sống, tại Archives nationales (Cục Lưu trữ Quốc gia Pháp) ở Paris.
Đó là gì? Trong Những ngày Di sản, ngày 19 và 20/9, nghệ sĩ Fanny de Chaillé đã giới thiệu dự án này. Ở đây, người ta không mượn sách, mà mượn một con người. Các tình nguyện viên đã chuẩn bị câu chuyện của mình cùng nghệ sĩ. Khách chọn một "cuốn sách sống" và trò chuyện riêng với người đó trong 20 phút.
Vì sao thú vị? Không công nghệ, không màn hình: chỉ có hai con người nói chuyện với nhau. Ở một nơi đầy tài liệu viết, chính những con người đang sống là người kể chuyện. Khách không ngồi nghe một bài thuyết trình: họ tham gia vào một cuộc trò chuyện.
Ngành sự kiện học được gì? Trong một sự kiện lớn, một khoảnh khắc trò chuyện riêng có thể là điều đáng nhớ nhất. Điều quan trọng là cảm xúc và con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25880"/>
            <a:ext cx="530352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640080" y="2651760"/>
            <a:ext cx="4937760" cy="91440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5943600" cy="658368"/>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353312"/>
            <a:ext cx="5943600" cy="36576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URCES">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jpg"/><Relationship Id="rId12" Type="http://schemas.openxmlformats.org/officeDocument/2006/relationships/image" Target="../media/image-3-12.jpg"/><Relationship Id="rId13" Type="http://schemas.openxmlformats.org/officeDocument/2006/relationships/slideLayout" Target="../slideLayouts/slideLayout3.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5.xml"/><Relationship Id="rId7"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640080" y="914400"/>
            <a:ext cx="53035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INNOVATION ÉVÉNEMENTIELLE · EFAP</a:t>
            </a:r>
            <a:endParaRPr lang="en-US" sz="1200" dirty="0"/>
          </a:p>
        </p:txBody>
      </p:sp>
      <p:sp>
        <p:nvSpPr>
          <p:cNvPr id="3" name="Text 0"/>
          <p:cNvSpPr/>
          <p:nvPr>
            <p:ph idx="100" type="title" hasCustomPrompt="1"/>
          </p:nvPr>
        </p:nvSpPr>
        <p:spPr>
          <a:xfrm>
            <a:off x="640080" y="1325880"/>
            <a:ext cx="5303520" cy="1188720"/>
          </a:xfrm>
          <a:prstGeom prst="rect">
            <a:avLst/>
          </a:prstGeom>
          <a:noFill/>
          <a:ln/>
        </p:spPr>
        <p:txBody>
          <a:bodyPr wrap="square" lIns="0" tIns="0" rIns="0" bIns="0" rtlCol="0" anchor="t"/>
          <a:lstStyle/>
          <a:p>
            <a:pPr algn="l" indent="0" marL="0">
              <a:buNone/>
            </a:pPr>
            <a:r>
              <a:rPr lang="en-US" sz="6000" b="1" dirty="0">
                <a:solidFill>
                  <a:schemeClr val="bg1"/>
                </a:solidFill>
              </a:rPr>
              <a:t>Pépites radar</a:t>
            </a:r>
            <a:endParaRPr lang="en-US" sz="6000" dirty="0"/>
          </a:p>
        </p:txBody>
      </p:sp>
      <p:sp>
        <p:nvSpPr>
          <p:cNvPr id="4" name="Text 0"/>
          <p:cNvSpPr/>
          <p:nvPr>
            <p:ph idx="101" type="body" hasCustomPrompt="1"/>
          </p:nvPr>
        </p:nvSpPr>
        <p:spPr>
          <a:xfrm>
            <a:off x="640080" y="2651760"/>
            <a:ext cx="4937760" cy="914400"/>
          </a:xfrm>
          <a:prstGeom prst="rect">
            <a:avLst/>
          </a:prstGeom>
          <a:noFill/>
          <a:ln/>
        </p:spPr>
        <p:txBody>
          <a:bodyPr wrap="square" lIns="0" tIns="0" rIns="0" bIns="0" rtlCol="0" anchor="t"/>
          <a:lstStyle/>
          <a:p>
            <a:pPr algn="l" indent="0" marL="0">
              <a:buNone/>
            </a:pPr>
            <a:r>
              <a:rPr lang="en-US" sz="2000" dirty="0">
                <a:solidFill>
                  <a:schemeClr val="accent5"/>
                </a:solidFill>
              </a:rPr>
              <a:t>Trois innovations repérées en septembre et octobre 2026</a:t>
            </a:r>
            <a:endParaRPr lang="en-US" sz="2000" dirty="0"/>
          </a:p>
        </p:txBody>
      </p:sp>
      <p:sp>
        <p:nvSpPr>
          <p:cNvPr id="5" name="Date line"/>
          <p:cNvSpPr txBox="1"/>
          <p:nvPr/>
        </p:nvSpPr>
        <p:spPr>
          <a:xfrm>
            <a:off x="640080" y="5989320"/>
            <a:ext cx="5303520" cy="274320"/>
          </a:xfrm>
          <a:prstGeom prst="rect">
            <a:avLst/>
          </a:prstGeom>
          <a:noFill/>
          <a:ln/>
        </p:spPr>
        <p:txBody>
          <a:bodyPr wrap="square" lIns="0" tIns="0" rIns="0" bIns="0" rtlCol="0" anchor="t"/>
          <a:lstStyle/>
          <a:p>
            <a:pPr indent="0" marL="0">
              <a:buNone/>
            </a:pPr>
            <a:r>
              <a:rPr lang="en-US" sz="1200" dirty="0">
                <a:solidFill>
                  <a:schemeClr val="accent5"/>
                </a:solidFill>
              </a:rPr>
              <a:t>Veille personnelle · Cours de Nicolas Olive · 14 octobre 2026</a:t>
            </a:r>
            <a:endParaRPr lang="en-US" sz="1200" dirty="0"/>
          </a:p>
        </p:txBody>
      </p:sp>
      <p:pic>
        <p:nvPicPr>
          <p:cNvPr id="6" name="Cover photo 01" descr="/tmp/claude-0/-home-user-H-C-B-I/d655295d-9dfe-5866-b7ef-2a882ec2c7de/scratchpad/fitted/c_1.jpg">    </p:cNvPr>
          <p:cNvPicPr>
            <a:picLocks noChangeAspect="1"/>
          </p:cNvPicPr>
          <p:nvPr/>
        </p:nvPicPr>
        <p:blipFill>
          <a:blip r:embed="rId1"/>
          <a:stretch>
            <a:fillRect/>
          </a:stretch>
        </p:blipFill>
        <p:spPr>
          <a:xfrm>
            <a:off x="6309360" y="914400"/>
            <a:ext cx="1691640" cy="4023360"/>
          </a:xfrm>
          <a:prstGeom prst="rect">
            <a:avLst/>
          </a:prstGeom>
        </p:spPr>
      </p:pic>
      <p:sp>
        <p:nvSpPr>
          <p:cNvPr id="7" name="Cover label 01"/>
          <p:cNvSpPr txBox="1"/>
          <p:nvPr/>
        </p:nvSpPr>
        <p:spPr>
          <a:xfrm>
            <a:off x="6309360" y="5074920"/>
            <a:ext cx="1691640" cy="685800"/>
          </a:xfrm>
          <a:prstGeom prst="rect">
            <a:avLst/>
          </a:prstGeom>
          <a:noFill/>
          <a:ln/>
        </p:spPr>
        <p:txBody>
          <a:bodyPr wrap="square" lIns="0" tIns="0" rIns="0" bIns="0" rtlCol="0" anchor="t"/>
          <a:lstStyle/>
          <a:p>
            <a:pPr indent="0" marL="0">
              <a:buNone/>
            </a:pPr>
            <a:r>
              <a:rPr lang="en-US" sz="1400" b="1" dirty="0">
                <a:solidFill>
                  <a:schemeClr val="accent2"/>
                </a:solidFill>
              </a:rPr>
              <a:t>01</a:t>
            </a:r>
            <a:endParaRPr lang="en-US" sz="1400" dirty="0"/>
          </a:p>
          <a:p>
            <a:pPr indent="0" marL="0">
              <a:buNone/>
            </a:pPr>
            <a:r>
              <a:rPr lang="en-US" sz="1300" b="1" dirty="0">
                <a:solidFill>
                  <a:schemeClr val="bg1"/>
                </a:solidFill>
              </a:rPr>
              <a:t>Un nuage dans un musée</a:t>
            </a:r>
            <a:endParaRPr lang="en-US" sz="1400" dirty="0"/>
          </a:p>
        </p:txBody>
      </p:sp>
      <p:pic>
        <p:nvPicPr>
          <p:cNvPr id="8" name="Cover photo 02" descr="/tmp/claude-0/-home-user-H-C-B-I/d655295d-9dfe-5866-b7ef-2a882ec2c7de/scratchpad/fitted/c_2.jpg">    </p:cNvPr>
          <p:cNvPicPr>
            <a:picLocks noChangeAspect="1"/>
          </p:cNvPicPr>
          <p:nvPr/>
        </p:nvPicPr>
        <p:blipFill>
          <a:blip r:embed="rId2"/>
          <a:stretch>
            <a:fillRect/>
          </a:stretch>
        </p:blipFill>
        <p:spPr>
          <a:xfrm>
            <a:off x="8138160" y="914400"/>
            <a:ext cx="1691640" cy="4023360"/>
          </a:xfrm>
          <a:prstGeom prst="rect">
            <a:avLst/>
          </a:prstGeom>
        </p:spPr>
      </p:pic>
      <p:sp>
        <p:nvSpPr>
          <p:cNvPr id="9" name="Cover label 02"/>
          <p:cNvSpPr txBox="1"/>
          <p:nvPr/>
        </p:nvSpPr>
        <p:spPr>
          <a:xfrm>
            <a:off x="8138160" y="5074920"/>
            <a:ext cx="1691640" cy="685800"/>
          </a:xfrm>
          <a:prstGeom prst="rect">
            <a:avLst/>
          </a:prstGeom>
          <a:noFill/>
          <a:ln/>
        </p:spPr>
        <p:txBody>
          <a:bodyPr wrap="square" lIns="0" tIns="0" rIns="0" bIns="0" rtlCol="0" anchor="t"/>
          <a:lstStyle/>
          <a:p>
            <a:pPr indent="0" marL="0">
              <a:buNone/>
            </a:pPr>
            <a:r>
              <a:rPr lang="en-US" sz="1400" b="1" dirty="0">
                <a:solidFill>
                  <a:schemeClr val="accent2"/>
                </a:solidFill>
              </a:rPr>
              <a:t>02</a:t>
            </a:r>
            <a:endParaRPr lang="en-US" sz="1400" dirty="0"/>
          </a:p>
          <a:p>
            <a:pPr indent="0" marL="0">
              <a:buNone/>
            </a:pPr>
            <a:r>
              <a:rPr lang="en-US" sz="1300" b="1" dirty="0">
                <a:solidFill>
                  <a:schemeClr val="bg1"/>
                </a:solidFill>
              </a:rPr>
              <a:t>Emotion Lab</a:t>
            </a:r>
            <a:endParaRPr lang="en-US" sz="1400" dirty="0"/>
          </a:p>
        </p:txBody>
      </p:sp>
      <p:pic>
        <p:nvPicPr>
          <p:cNvPr id="10" name="Cover photo 03" descr="/tmp/claude-0/-home-user-H-C-B-I/d655295d-9dfe-5866-b7ef-2a882ec2c7de/scratchpad/fitted/c_3.jpg">    </p:cNvPr>
          <p:cNvPicPr>
            <a:picLocks noChangeAspect="1"/>
          </p:cNvPicPr>
          <p:nvPr/>
        </p:nvPicPr>
        <p:blipFill>
          <a:blip r:embed="rId3"/>
          <a:stretch>
            <a:fillRect/>
          </a:stretch>
        </p:blipFill>
        <p:spPr>
          <a:xfrm>
            <a:off x="9966960" y="914400"/>
            <a:ext cx="1691640" cy="4023360"/>
          </a:xfrm>
          <a:prstGeom prst="rect">
            <a:avLst/>
          </a:prstGeom>
        </p:spPr>
      </p:pic>
      <p:sp>
        <p:nvSpPr>
          <p:cNvPr id="11" name="Cover label 03"/>
          <p:cNvSpPr txBox="1"/>
          <p:nvPr/>
        </p:nvSpPr>
        <p:spPr>
          <a:xfrm>
            <a:off x="9966960" y="5074920"/>
            <a:ext cx="1691640" cy="685800"/>
          </a:xfrm>
          <a:prstGeom prst="rect">
            <a:avLst/>
          </a:prstGeom>
          <a:noFill/>
          <a:ln/>
        </p:spPr>
        <p:txBody>
          <a:bodyPr wrap="square" lIns="0" tIns="0" rIns="0" bIns="0" rtlCol="0" anchor="t"/>
          <a:lstStyle/>
          <a:p>
            <a:pPr indent="0" marL="0">
              <a:buNone/>
            </a:pPr>
            <a:r>
              <a:rPr lang="en-US" sz="1400" b="1" dirty="0">
                <a:solidFill>
                  <a:schemeClr val="accent2"/>
                </a:solidFill>
              </a:rPr>
              <a:t>03</a:t>
            </a:r>
            <a:endParaRPr lang="en-US" sz="1400" dirty="0"/>
          </a:p>
          <a:p>
            <a:pPr indent="0" marL="0">
              <a:buNone/>
            </a:pPr>
            <a:r>
              <a:rPr lang="en-US" sz="1300" b="1" dirty="0">
                <a:solidFill>
                  <a:schemeClr val="bg1"/>
                </a:solidFill>
              </a:rPr>
              <a:t>La Bibliothèque vivante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84048"/>
            <a:ext cx="5943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01 · ART CONTEMPORAIN · PARIS</a:t>
            </a:r>
            <a:endParaRPr lang="en-US" sz="1200" dirty="0"/>
          </a:p>
        </p:txBody>
      </p:sp>
      <p:sp>
        <p:nvSpPr>
          <p:cNvPr id="3" name="Text 0"/>
          <p:cNvSpPr/>
          <p:nvPr>
            <p:ph idx="100" type="title" hasCustomPrompt="1"/>
          </p:nvPr>
        </p:nvSpPr>
        <p:spPr>
          <a:xfrm>
            <a:off x="548640" y="676656"/>
            <a:ext cx="5943600" cy="658368"/>
          </a:xfrm>
          <a:prstGeom prst="rect">
            <a:avLst/>
          </a:prstGeom>
          <a:noFill/>
          <a:ln/>
        </p:spPr>
        <p:txBody>
          <a:bodyPr wrap="square" lIns="0" tIns="0" rIns="0" bIns="0" rtlCol="0" anchor="ctr"/>
          <a:lstStyle/>
          <a:p>
            <a:pPr algn="l" indent="0" marL="0">
              <a:buNone/>
            </a:pPr>
            <a:r>
              <a:rPr lang="en-US" sz="3400" b="1" dirty="0">
                <a:solidFill>
                  <a:schemeClr val="tx1"/>
                </a:solidFill>
              </a:rPr>
              <a:t>Un nuage dans un musée</a:t>
            </a:r>
            <a:endParaRPr lang="en-US" sz="3400" dirty="0"/>
          </a:p>
        </p:txBody>
      </p:sp>
      <p:sp>
        <p:nvSpPr>
          <p:cNvPr id="4" name="Text 0"/>
          <p:cNvSpPr/>
          <p:nvPr>
            <p:ph idx="101" type="body" hasCustomPrompt="1"/>
          </p:nvPr>
        </p:nvSpPr>
        <p:spPr>
          <a:xfrm>
            <a:off x="548640" y="1353312"/>
            <a:ext cx="5943600" cy="365760"/>
          </a:xfrm>
          <a:prstGeom prst="rect">
            <a:avLst/>
          </a:prstGeom>
          <a:noFill/>
          <a:ln/>
        </p:spPr>
        <p:txBody>
          <a:bodyPr wrap="square" lIns="0" tIns="0" rIns="0" bIns="0" rtlCol="0" anchor="ctr"/>
          <a:lstStyle/>
          <a:p>
            <a:pPr algn="l" indent="0" marL="0">
              <a:buNone/>
            </a:pPr>
            <a:r>
              <a:rPr lang="en-US" sz="1600" dirty="0">
                <a:solidFill>
                  <a:schemeClr val="tx2"/>
                </a:solidFill>
              </a:rPr>
              <a:t>Fujiko Nakaya, Cloud #07156 · Bourse de Commerce</a:t>
            </a:r>
            <a:endParaRPr lang="en-US" sz="1600" dirty="0"/>
          </a:p>
        </p:txBody>
      </p:sp>
      <p:sp>
        <p:nvSpPr>
          <p:cNvPr id="5" name="Facts box"/>
          <p:cNvSpPr/>
          <p:nvPr/>
        </p:nvSpPr>
        <p:spPr>
          <a:xfrm>
            <a:off x="548640" y="1828800"/>
            <a:ext cx="5943600" cy="768096"/>
          </a:xfrm>
          <a:prstGeom prst="roundRect">
            <a:avLst>
              <a:gd name="adj" fmla="val 9524"/>
            </a:avLst>
          </a:prstGeom>
          <a:solidFill>
            <a:schemeClr val="bg2"/>
          </a:solidFill>
          <a:ln/>
        </p:spPr>
      </p:sp>
      <p:sp>
        <p:nvSpPr>
          <p:cNvPr id="6" name="Fact label 1"/>
          <p:cNvSpPr txBox="1"/>
          <p:nvPr/>
        </p:nvSpPr>
        <p:spPr>
          <a:xfrm>
            <a:off x="731520" y="1920240"/>
            <a:ext cx="175260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OÙ</a:t>
            </a:r>
            <a:endParaRPr lang="en-US" sz="1000" dirty="0"/>
          </a:p>
        </p:txBody>
      </p:sp>
      <p:sp>
        <p:nvSpPr>
          <p:cNvPr id="7" name="Fact value 1"/>
          <p:cNvSpPr txBox="1"/>
          <p:nvPr/>
        </p:nvSpPr>
        <p:spPr>
          <a:xfrm>
            <a:off x="731520" y="2130552"/>
            <a:ext cx="1752600" cy="402336"/>
          </a:xfrm>
          <a:prstGeom prst="rect">
            <a:avLst/>
          </a:prstGeom>
          <a:noFill/>
          <a:ln/>
        </p:spPr>
        <p:txBody>
          <a:bodyPr wrap="square" lIns="0" tIns="0" rIns="0" bIns="0" rtlCol="0" anchor="t"/>
          <a:lstStyle/>
          <a:p>
            <a:pPr indent="0" marL="0">
              <a:buNone/>
            </a:pPr>
            <a:r>
              <a:rPr lang="en-US" sz="1200" b="1" dirty="0">
                <a:solidFill>
                  <a:schemeClr val="tx1"/>
                </a:solidFill>
              </a:rPr>
              <a:t>Bourse de Commerce</a:t>
            </a:r>
            <a:endParaRPr lang="en-US" sz="1200" dirty="0"/>
          </a:p>
          <a:p>
            <a:pPr indent="0" marL="0">
              <a:buNone/>
            </a:pPr>
            <a:r>
              <a:rPr lang="en-US" sz="1200" b="1" dirty="0">
                <a:solidFill>
                  <a:schemeClr val="tx1"/>
                </a:solidFill>
              </a:rPr>
              <a:t>Paris</a:t>
            </a:r>
            <a:endParaRPr lang="en-US" sz="1200" dirty="0"/>
          </a:p>
        </p:txBody>
      </p:sp>
      <p:sp>
        <p:nvSpPr>
          <p:cNvPr id="8" name="Fact label 2"/>
          <p:cNvSpPr txBox="1"/>
          <p:nvPr/>
        </p:nvSpPr>
        <p:spPr>
          <a:xfrm>
            <a:off x="2712720" y="1920240"/>
            <a:ext cx="175260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QUAND</a:t>
            </a:r>
            <a:endParaRPr lang="en-US" sz="1000" dirty="0"/>
          </a:p>
        </p:txBody>
      </p:sp>
      <p:sp>
        <p:nvSpPr>
          <p:cNvPr id="9" name="Fact value 2"/>
          <p:cNvSpPr txBox="1"/>
          <p:nvPr/>
        </p:nvSpPr>
        <p:spPr>
          <a:xfrm>
            <a:off x="2712720" y="2130552"/>
            <a:ext cx="1752600" cy="402336"/>
          </a:xfrm>
          <a:prstGeom prst="rect">
            <a:avLst/>
          </a:prstGeom>
          <a:noFill/>
          <a:ln/>
        </p:spPr>
        <p:txBody>
          <a:bodyPr wrap="square" lIns="0" tIns="0" rIns="0" bIns="0" rtlCol="0" anchor="t"/>
          <a:lstStyle/>
          <a:p>
            <a:pPr indent="0" marL="0">
              <a:buNone/>
            </a:pPr>
            <a:r>
              <a:rPr lang="en-US" sz="1200" b="1" dirty="0">
                <a:solidFill>
                  <a:schemeClr val="tx1"/>
                </a:solidFill>
              </a:rPr>
              <a:t>Du 4 juin</a:t>
            </a:r>
            <a:endParaRPr lang="en-US" sz="1200" dirty="0"/>
          </a:p>
          <a:p>
            <a:pPr indent="0" marL="0">
              <a:buNone/>
            </a:pPr>
            <a:r>
              <a:rPr lang="en-US" sz="1200" b="1" dirty="0">
                <a:solidFill>
                  <a:schemeClr val="tx1"/>
                </a:solidFill>
              </a:rPr>
              <a:t>au 14 sept. 2026</a:t>
            </a:r>
            <a:endParaRPr lang="en-US" sz="1200" dirty="0"/>
          </a:p>
        </p:txBody>
      </p:sp>
      <p:sp>
        <p:nvSpPr>
          <p:cNvPr id="10" name="Fact label 3"/>
          <p:cNvSpPr txBox="1"/>
          <p:nvPr/>
        </p:nvSpPr>
        <p:spPr>
          <a:xfrm>
            <a:off x="4693920" y="1920240"/>
            <a:ext cx="175260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ARTISTE</a:t>
            </a:r>
            <a:endParaRPr lang="en-US" sz="1000" dirty="0"/>
          </a:p>
        </p:txBody>
      </p:sp>
      <p:sp>
        <p:nvSpPr>
          <p:cNvPr id="11" name="Fact value 3"/>
          <p:cNvSpPr txBox="1"/>
          <p:nvPr/>
        </p:nvSpPr>
        <p:spPr>
          <a:xfrm>
            <a:off x="4693920" y="2130552"/>
            <a:ext cx="1752600" cy="402336"/>
          </a:xfrm>
          <a:prstGeom prst="rect">
            <a:avLst/>
          </a:prstGeom>
          <a:noFill/>
          <a:ln/>
        </p:spPr>
        <p:txBody>
          <a:bodyPr wrap="square" lIns="0" tIns="0" rIns="0" bIns="0" rtlCol="0" anchor="t"/>
          <a:lstStyle/>
          <a:p>
            <a:pPr indent="0" marL="0">
              <a:buNone/>
            </a:pPr>
            <a:r>
              <a:rPr lang="en-US" sz="1200" b="1" dirty="0">
                <a:solidFill>
                  <a:schemeClr val="tx1"/>
                </a:solidFill>
              </a:rPr>
              <a:t>Fujiko Nakaya</a:t>
            </a:r>
            <a:endParaRPr lang="en-US" sz="1200" dirty="0"/>
          </a:p>
          <a:p>
            <a:pPr indent="0" marL="0">
              <a:buNone/>
            </a:pPr>
            <a:r>
              <a:rPr lang="en-US" sz="1200" b="1" dirty="0">
                <a:solidFill>
                  <a:schemeClr val="tx1"/>
                </a:solidFill>
              </a:rPr>
              <a:t>93 ans</a:t>
            </a:r>
            <a:endParaRPr lang="en-US" sz="1200" dirty="0"/>
          </a:p>
        </p:txBody>
      </p:sp>
      <p:sp>
        <p:nvSpPr>
          <p:cNvPr id="12" name="Question icon circle 1"/>
          <p:cNvSpPr/>
          <p:nvPr/>
        </p:nvSpPr>
        <p:spPr>
          <a:xfrm>
            <a:off x="548640" y="2743200"/>
            <a:ext cx="420624" cy="420624"/>
          </a:xfrm>
          <a:prstGeom prst="ellipse">
            <a:avLst/>
          </a:prstGeom>
          <a:solidFill>
            <a:schemeClr val="accent1"/>
          </a:solidFill>
          <a:ln/>
        </p:spPr>
      </p:sp>
      <p:pic>
        <p:nvPicPr>
          <p:cNvPr id="13" name="Question icon 1" descr="preencoded.png">    </p:cNvPr>
          <p:cNvPicPr>
            <a:picLocks noChangeAspect="1"/>
          </p:cNvPicPr>
          <p:nvPr/>
        </p:nvPicPr>
        <p:blipFill>
          <a:blip r:embed="rId1"/>
          <a:stretch>
            <a:fillRect/>
          </a:stretch>
        </p:blipFill>
        <p:spPr>
          <a:xfrm>
            <a:off x="649224" y="2843784"/>
            <a:ext cx="219456" cy="219456"/>
          </a:xfrm>
          <a:prstGeom prst="rect">
            <a:avLst/>
          </a:prstGeom>
        </p:spPr>
      </p:pic>
      <p:sp>
        <p:nvSpPr>
          <p:cNvPr id="14" name="Question 1"/>
          <p:cNvSpPr txBox="1"/>
          <p:nvPr/>
        </p:nvSpPr>
        <p:spPr>
          <a:xfrm>
            <a:off x="1143000" y="2788920"/>
            <a:ext cx="5349240" cy="329184"/>
          </a:xfrm>
          <a:prstGeom prst="rect">
            <a:avLst/>
          </a:prstGeom>
          <a:noFill/>
          <a:ln/>
        </p:spPr>
        <p:txBody>
          <a:bodyPr wrap="square" lIns="0" tIns="0" rIns="0" bIns="0" rtlCol="0" anchor="ctr"/>
          <a:lstStyle/>
          <a:p>
            <a:pPr indent="0" marL="0">
              <a:buNone/>
            </a:pPr>
            <a:r>
              <a:rPr lang="en-US" sz="1500" b="1" dirty="0">
                <a:solidFill>
                  <a:schemeClr val="tx1"/>
                </a:solidFill>
              </a:rPr>
              <a:t>Qu’est-ce que c’est ?</a:t>
            </a:r>
            <a:endParaRPr lang="en-US" sz="1500" dirty="0"/>
          </a:p>
        </p:txBody>
      </p:sp>
      <p:sp>
        <p:nvSpPr>
          <p:cNvPr id="15" name="Answer 1"/>
          <p:cNvSpPr txBox="1"/>
          <p:nvPr/>
        </p:nvSpPr>
        <p:spPr>
          <a:xfrm>
            <a:off x="1143000" y="3163824"/>
            <a:ext cx="5349240" cy="713232"/>
          </a:xfrm>
          <a:prstGeom prst="rect">
            <a:avLst/>
          </a:prstGeom>
          <a:noFill/>
          <a:ln/>
        </p:spPr>
        <p:txBody>
          <a:bodyPr wrap="square" lIns="0" tIns="0" rIns="0" bIns="0" rtlCol="0" anchor="t"/>
          <a:lstStyle/>
          <a:p>
            <a:pPr indent="0" marL="0">
              <a:buNone/>
            </a:pPr>
            <a:r>
              <a:rPr lang="en-US" sz="1400" dirty="0">
                <a:solidFill>
                  <a:schemeClr val="tx2"/>
                </a:solidFill>
              </a:rPr>
              <a:t>Une sculpture de brouillard. Des buses au sol projettent de fines gouttes d’eau : par cycles de 15 minutes, le brouillard remplit la Rotonde, puis disparaît.</a:t>
            </a:r>
            <a:endParaRPr lang="en-US" sz="1400" dirty="0"/>
          </a:p>
        </p:txBody>
      </p:sp>
      <p:sp>
        <p:nvSpPr>
          <p:cNvPr id="16" name="Question icon circle 2"/>
          <p:cNvSpPr/>
          <p:nvPr/>
        </p:nvSpPr>
        <p:spPr>
          <a:xfrm>
            <a:off x="548640" y="3950208"/>
            <a:ext cx="420624" cy="420624"/>
          </a:xfrm>
          <a:prstGeom prst="ellipse">
            <a:avLst/>
          </a:prstGeom>
          <a:solidFill>
            <a:schemeClr val="accent1"/>
          </a:solidFill>
          <a:ln/>
        </p:spPr>
      </p:sp>
      <p:pic>
        <p:nvPicPr>
          <p:cNvPr id="17" name="Question icon 2" descr="preencoded.png">    </p:cNvPr>
          <p:cNvPicPr>
            <a:picLocks noChangeAspect="1"/>
          </p:cNvPicPr>
          <p:nvPr/>
        </p:nvPicPr>
        <p:blipFill>
          <a:blip r:embed="rId2"/>
          <a:stretch>
            <a:fillRect/>
          </a:stretch>
        </p:blipFill>
        <p:spPr>
          <a:xfrm>
            <a:off x="649224" y="4050792"/>
            <a:ext cx="219456" cy="219456"/>
          </a:xfrm>
          <a:prstGeom prst="rect">
            <a:avLst/>
          </a:prstGeom>
        </p:spPr>
      </p:pic>
      <p:sp>
        <p:nvSpPr>
          <p:cNvPr id="18" name="Question 2"/>
          <p:cNvSpPr txBox="1"/>
          <p:nvPr/>
        </p:nvSpPr>
        <p:spPr>
          <a:xfrm>
            <a:off x="1143000" y="3995928"/>
            <a:ext cx="5349240" cy="329184"/>
          </a:xfrm>
          <a:prstGeom prst="rect">
            <a:avLst/>
          </a:prstGeom>
          <a:noFill/>
          <a:ln/>
        </p:spPr>
        <p:txBody>
          <a:bodyPr wrap="square" lIns="0" tIns="0" rIns="0" bIns="0" rtlCol="0" anchor="ctr"/>
          <a:lstStyle/>
          <a:p>
            <a:pPr indent="0" marL="0">
              <a:buNone/>
            </a:pPr>
            <a:r>
              <a:rPr lang="en-US" sz="1500" b="1" dirty="0">
                <a:solidFill>
                  <a:schemeClr val="tx1"/>
                </a:solidFill>
              </a:rPr>
              <a:t>Pourquoi est-ce intéressant ?</a:t>
            </a:r>
            <a:endParaRPr lang="en-US" sz="1500" dirty="0"/>
          </a:p>
        </p:txBody>
      </p:sp>
      <p:sp>
        <p:nvSpPr>
          <p:cNvPr id="19" name="Answer 2"/>
          <p:cNvSpPr txBox="1"/>
          <p:nvPr/>
        </p:nvSpPr>
        <p:spPr>
          <a:xfrm>
            <a:off x="1143000" y="4370832"/>
            <a:ext cx="5349240" cy="713232"/>
          </a:xfrm>
          <a:prstGeom prst="rect">
            <a:avLst/>
          </a:prstGeom>
          <a:noFill/>
          <a:ln/>
        </p:spPr>
        <p:txBody>
          <a:bodyPr wrap="square" lIns="0" tIns="0" rIns="0" bIns="0" rtlCol="0" anchor="t"/>
          <a:lstStyle/>
          <a:p>
            <a:pPr indent="0" marL="0">
              <a:buNone/>
            </a:pPr>
            <a:r>
              <a:rPr lang="en-US" sz="1400" dirty="0">
                <a:solidFill>
                  <a:schemeClr val="tx2"/>
                </a:solidFill>
              </a:rPr>
              <a:t>Le visiteur marche dans l’œuvre et ne voit plus la personne devant lui. Pas d’écran, seulement de l’eau. Très partagé sur TikTok.</a:t>
            </a:r>
            <a:endParaRPr lang="en-US" sz="1400" dirty="0"/>
          </a:p>
        </p:txBody>
      </p:sp>
      <p:sp>
        <p:nvSpPr>
          <p:cNvPr id="20" name="Question icon circle 3"/>
          <p:cNvSpPr/>
          <p:nvPr/>
        </p:nvSpPr>
        <p:spPr>
          <a:xfrm>
            <a:off x="548640" y="5157216"/>
            <a:ext cx="420624" cy="420624"/>
          </a:xfrm>
          <a:prstGeom prst="ellipse">
            <a:avLst/>
          </a:prstGeom>
          <a:solidFill>
            <a:schemeClr val="accent1"/>
          </a:solidFill>
          <a:ln/>
        </p:spPr>
      </p:sp>
      <p:pic>
        <p:nvPicPr>
          <p:cNvPr id="21" name="Question icon 3" descr="preencoded.png">    </p:cNvPr>
          <p:cNvPicPr>
            <a:picLocks noChangeAspect="1"/>
          </p:cNvPicPr>
          <p:nvPr/>
        </p:nvPicPr>
        <p:blipFill>
          <a:blip r:embed="rId3"/>
          <a:stretch>
            <a:fillRect/>
          </a:stretch>
        </p:blipFill>
        <p:spPr>
          <a:xfrm>
            <a:off x="649224" y="5257800"/>
            <a:ext cx="219456" cy="219456"/>
          </a:xfrm>
          <a:prstGeom prst="rect">
            <a:avLst/>
          </a:prstGeom>
        </p:spPr>
      </p:pic>
      <p:sp>
        <p:nvSpPr>
          <p:cNvPr id="22" name="Question 3"/>
          <p:cNvSpPr txBox="1"/>
          <p:nvPr/>
        </p:nvSpPr>
        <p:spPr>
          <a:xfrm>
            <a:off x="1143000" y="5202936"/>
            <a:ext cx="5349240" cy="329184"/>
          </a:xfrm>
          <a:prstGeom prst="rect">
            <a:avLst/>
          </a:prstGeom>
          <a:noFill/>
          <a:ln/>
        </p:spPr>
        <p:txBody>
          <a:bodyPr wrap="square" lIns="0" tIns="0" rIns="0" bIns="0" rtlCol="0" anchor="ctr"/>
          <a:lstStyle/>
          <a:p>
            <a:pPr indent="0" marL="0">
              <a:buNone/>
            </a:pPr>
            <a:r>
              <a:rPr lang="en-US" sz="1500" b="1" dirty="0">
                <a:solidFill>
                  <a:schemeClr val="tx1"/>
                </a:solidFill>
              </a:rPr>
              <a:t>Ce que l’événementiel peut en apprendre</a:t>
            </a:r>
            <a:endParaRPr lang="en-US" sz="1500" dirty="0"/>
          </a:p>
        </p:txBody>
      </p:sp>
      <p:sp>
        <p:nvSpPr>
          <p:cNvPr id="23" name="Answer 3"/>
          <p:cNvSpPr txBox="1"/>
          <p:nvPr/>
        </p:nvSpPr>
        <p:spPr>
          <a:xfrm>
            <a:off x="1143000" y="5577840"/>
            <a:ext cx="5349240" cy="502920"/>
          </a:xfrm>
          <a:prstGeom prst="rect">
            <a:avLst/>
          </a:prstGeom>
          <a:noFill/>
          <a:ln/>
        </p:spPr>
        <p:txBody>
          <a:bodyPr wrap="square" lIns="0" tIns="0" rIns="0" bIns="0" rtlCol="0" anchor="t"/>
          <a:lstStyle/>
          <a:p>
            <a:pPr indent="0" marL="0">
              <a:buNone/>
            </a:pPr>
            <a:r>
              <a:rPr lang="en-US" sz="1400" dirty="0">
                <a:solidFill>
                  <a:schemeClr val="tx2"/>
                </a:solidFill>
              </a:rPr>
              <a:t>Un élément simple peut créer une émotion très forte. L’innovation commence par ce que le participant ressent.</a:t>
            </a:r>
            <a:endParaRPr lang="en-US" sz="1400" dirty="0"/>
          </a:p>
        </p:txBody>
      </p:sp>
      <p:pic>
        <p:nvPicPr>
          <p:cNvPr id="24" name="Photo top" descr="/tmp/claude-0/-home-user-H-C-B-I/d655295d-9dfe-5866-b7ef-2a882ec2c7de/scratchpad/fitted/s1_top.jpg">    </p:cNvPr>
          <p:cNvPicPr>
            <a:picLocks noChangeAspect="1"/>
          </p:cNvPicPr>
          <p:nvPr/>
        </p:nvPicPr>
        <p:blipFill>
          <a:blip r:embed="rId4"/>
          <a:stretch>
            <a:fillRect/>
          </a:stretch>
        </p:blipFill>
        <p:spPr>
          <a:xfrm>
            <a:off x="6949440" y="0"/>
            <a:ext cx="5242255" cy="3749040"/>
          </a:xfrm>
          <a:prstGeom prst="rect">
            <a:avLst/>
          </a:prstGeom>
        </p:spPr>
      </p:pic>
      <p:pic>
        <p:nvPicPr>
          <p:cNvPr id="25" name="Photo bottom" descr="/tmp/claude-0/-home-user-H-C-B-I/d655295d-9dfe-5866-b7ef-2a882ec2c7de/scratchpad/fitted/s1_bot.jpg">    </p:cNvPr>
          <p:cNvPicPr>
            <a:picLocks noChangeAspect="1"/>
          </p:cNvPicPr>
          <p:nvPr/>
        </p:nvPicPr>
        <p:blipFill>
          <a:blip r:embed="rId5"/>
          <a:stretch>
            <a:fillRect/>
          </a:stretch>
        </p:blipFill>
        <p:spPr>
          <a:xfrm>
            <a:off x="6949440" y="3803904"/>
            <a:ext cx="5242255" cy="3054096"/>
          </a:xfrm>
          <a:prstGeom prst="rect">
            <a:avLst/>
          </a:prstGeom>
        </p:spPr>
      </p:pic>
      <p:sp>
        <p:nvSpPr>
          <p:cNvPr id="26" name="Caption band"/>
          <p:cNvSpPr/>
          <p:nvPr/>
        </p:nvSpPr>
        <p:spPr>
          <a:xfrm>
            <a:off x="6949440" y="6510528"/>
            <a:ext cx="5242255" cy="347472"/>
          </a:xfrm>
          <a:prstGeom prst="rect">
            <a:avLst/>
          </a:prstGeom>
          <a:solidFill>
            <a:schemeClr val="tx1">
              <a:alpha val="70000"/>
            </a:schemeClr>
          </a:solidFill>
          <a:ln/>
        </p:spPr>
      </p:sp>
      <p:sp>
        <p:nvSpPr>
          <p:cNvPr id="27" name="Photo caption"/>
          <p:cNvSpPr txBox="1"/>
          <p:nvPr/>
        </p:nvSpPr>
        <p:spPr>
          <a:xfrm>
            <a:off x="7132320" y="6510528"/>
            <a:ext cx="4937760" cy="347472"/>
          </a:xfrm>
          <a:prstGeom prst="rect">
            <a:avLst/>
          </a:prstGeom>
          <a:noFill/>
          <a:ln/>
        </p:spPr>
        <p:txBody>
          <a:bodyPr wrap="square" lIns="0" tIns="0" rIns="0" bIns="0" rtlCol="0" anchor="ctr"/>
          <a:lstStyle/>
          <a:p>
            <a:pPr indent="0" marL="0">
              <a:buNone/>
            </a:pPr>
            <a:r>
              <a:rPr lang="en-US" sz="1000" dirty="0">
                <a:solidFill>
                  <a:schemeClr val="bg1"/>
                </a:solidFill>
              </a:rPr>
              <a:t>Cloud #07156, Fujiko Nakaya (2026) · Photos : source à compléter</a:t>
            </a:r>
            <a:endParaRPr lang="en-US" sz="1000" dirty="0"/>
          </a:p>
        </p:txBody>
      </p:sp>
      <p:sp>
        <p:nvSpPr>
          <p:cNvPr id="28" name="Sources footer"/>
          <p:cNvSpPr txBox="1"/>
          <p:nvPr/>
        </p:nvSpPr>
        <p:spPr>
          <a:xfrm>
            <a:off x="548640" y="6446520"/>
            <a:ext cx="5943600" cy="256032"/>
          </a:xfrm>
          <a:prstGeom prst="rect">
            <a:avLst/>
          </a:prstGeom>
          <a:noFill/>
          <a:ln/>
        </p:spPr>
        <p:txBody>
          <a:bodyPr wrap="square" lIns="0" tIns="0" rIns="0" bIns="0" rtlCol="0" anchor="ctr"/>
          <a:lstStyle/>
          <a:p>
            <a:pPr indent="0" marL="0">
              <a:buNone/>
            </a:pPr>
            <a:r>
              <a:rPr lang="en-US" sz="1000" dirty="0">
                <a:solidFill>
                  <a:schemeClr val="tx2"/>
                </a:solidFill>
              </a:rPr>
              <a:t>Sources : Pinault Collection · Sortiraparis · France 24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84048"/>
            <a:ext cx="5943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02 · EXPÉRIENCE DE MARQUE · SÉOUL</a:t>
            </a:r>
            <a:endParaRPr lang="en-US" sz="1200" dirty="0"/>
          </a:p>
        </p:txBody>
      </p:sp>
      <p:sp>
        <p:nvSpPr>
          <p:cNvPr id="3" name="Text 0"/>
          <p:cNvSpPr/>
          <p:nvPr>
            <p:ph idx="100" type="title" hasCustomPrompt="1"/>
          </p:nvPr>
        </p:nvSpPr>
        <p:spPr>
          <a:xfrm>
            <a:off x="548640" y="676656"/>
            <a:ext cx="5943600" cy="658368"/>
          </a:xfrm>
          <a:prstGeom prst="rect">
            <a:avLst/>
          </a:prstGeom>
          <a:noFill/>
          <a:ln/>
        </p:spPr>
        <p:txBody>
          <a:bodyPr wrap="square" lIns="0" tIns="0" rIns="0" bIns="0" rtlCol="0" anchor="ctr"/>
          <a:lstStyle/>
          <a:p>
            <a:pPr algn="l" indent="0" marL="0">
              <a:buNone/>
            </a:pPr>
            <a:r>
              <a:rPr lang="en-US" sz="3400" b="1" dirty="0">
                <a:solidFill>
                  <a:schemeClr val="tx1"/>
                </a:solidFill>
              </a:rPr>
              <a:t>Emotion Lab, SK Telecom</a:t>
            </a:r>
            <a:endParaRPr lang="en-US" sz="3400" dirty="0"/>
          </a:p>
        </p:txBody>
      </p:sp>
      <p:sp>
        <p:nvSpPr>
          <p:cNvPr id="4" name="Text 0"/>
          <p:cNvSpPr/>
          <p:nvPr>
            <p:ph idx="101" type="body" hasCustomPrompt="1"/>
          </p:nvPr>
        </p:nvSpPr>
        <p:spPr>
          <a:xfrm>
            <a:off x="548640" y="1353312"/>
            <a:ext cx="5943600" cy="365760"/>
          </a:xfrm>
          <a:prstGeom prst="rect">
            <a:avLst/>
          </a:prstGeom>
          <a:noFill/>
          <a:ln/>
        </p:spPr>
        <p:txBody>
          <a:bodyPr wrap="square" lIns="0" tIns="0" rIns="0" bIns="0" rtlCol="0" anchor="ctr"/>
          <a:lstStyle/>
          <a:p>
            <a:pPr algn="l" indent="0" marL="0">
              <a:buNone/>
            </a:pPr>
            <a:r>
              <a:rPr lang="en-US" sz="1600" i="1" dirty="0">
                <a:solidFill>
                  <a:schemeClr val="tx2"/>
                </a:solidFill>
              </a:rPr>
              <a:t>« If my heart had a scent, what would it be? »</a:t>
            </a:r>
            <a:endParaRPr lang="en-US" sz="1600" dirty="0"/>
          </a:p>
        </p:txBody>
      </p:sp>
      <p:sp>
        <p:nvSpPr>
          <p:cNvPr id="5" name="Facts box"/>
          <p:cNvSpPr/>
          <p:nvPr/>
        </p:nvSpPr>
        <p:spPr>
          <a:xfrm>
            <a:off x="548640" y="1828800"/>
            <a:ext cx="5943600" cy="768096"/>
          </a:xfrm>
          <a:prstGeom prst="roundRect">
            <a:avLst>
              <a:gd name="adj" fmla="val 9524"/>
            </a:avLst>
          </a:prstGeom>
          <a:solidFill>
            <a:schemeClr val="bg2"/>
          </a:solidFill>
          <a:ln/>
        </p:spPr>
      </p:sp>
      <p:sp>
        <p:nvSpPr>
          <p:cNvPr id="6" name="Fact label 1"/>
          <p:cNvSpPr txBox="1"/>
          <p:nvPr/>
        </p:nvSpPr>
        <p:spPr>
          <a:xfrm>
            <a:off x="731520" y="1920240"/>
            <a:ext cx="175260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OÙ</a:t>
            </a:r>
            <a:endParaRPr lang="en-US" sz="1000" dirty="0"/>
          </a:p>
        </p:txBody>
      </p:sp>
      <p:sp>
        <p:nvSpPr>
          <p:cNvPr id="7" name="Fact value 1"/>
          <p:cNvSpPr txBox="1"/>
          <p:nvPr/>
        </p:nvSpPr>
        <p:spPr>
          <a:xfrm>
            <a:off x="731520" y="2130552"/>
            <a:ext cx="1752600" cy="402336"/>
          </a:xfrm>
          <a:prstGeom prst="rect">
            <a:avLst/>
          </a:prstGeom>
          <a:noFill/>
          <a:ln/>
        </p:spPr>
        <p:txBody>
          <a:bodyPr wrap="square" lIns="0" tIns="0" rIns="0" bIns="0" rtlCol="0" anchor="t"/>
          <a:lstStyle/>
          <a:p>
            <a:pPr indent="0" marL="0">
              <a:buNone/>
            </a:pPr>
            <a:r>
              <a:rPr lang="en-US" sz="1200" b="1" dirty="0">
                <a:solidFill>
                  <a:schemeClr val="tx1"/>
                </a:solidFill>
              </a:rPr>
              <a:t>T Factory Seongsu</a:t>
            </a:r>
            <a:endParaRPr lang="en-US" sz="1200" dirty="0"/>
          </a:p>
          <a:p>
            <a:pPr indent="0" marL="0">
              <a:buNone/>
            </a:pPr>
            <a:r>
              <a:rPr lang="en-US" sz="1200" b="1" dirty="0">
                <a:solidFill>
                  <a:schemeClr val="tx1"/>
                </a:solidFill>
              </a:rPr>
              <a:t>Séoul</a:t>
            </a:r>
            <a:endParaRPr lang="en-US" sz="1200" dirty="0"/>
          </a:p>
        </p:txBody>
      </p:sp>
      <p:sp>
        <p:nvSpPr>
          <p:cNvPr id="8" name="Fact label 2"/>
          <p:cNvSpPr txBox="1"/>
          <p:nvPr/>
        </p:nvSpPr>
        <p:spPr>
          <a:xfrm>
            <a:off x="2712720" y="1920240"/>
            <a:ext cx="175260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QUAND</a:t>
            </a:r>
            <a:endParaRPr lang="en-US" sz="1000" dirty="0"/>
          </a:p>
        </p:txBody>
      </p:sp>
      <p:sp>
        <p:nvSpPr>
          <p:cNvPr id="9" name="Fact value 2"/>
          <p:cNvSpPr txBox="1"/>
          <p:nvPr/>
        </p:nvSpPr>
        <p:spPr>
          <a:xfrm>
            <a:off x="2712720" y="2130552"/>
            <a:ext cx="1752600" cy="402336"/>
          </a:xfrm>
          <a:prstGeom prst="rect">
            <a:avLst/>
          </a:prstGeom>
          <a:noFill/>
          <a:ln/>
        </p:spPr>
        <p:txBody>
          <a:bodyPr wrap="square" lIns="0" tIns="0" rIns="0" bIns="0" rtlCol="0" anchor="t"/>
          <a:lstStyle/>
          <a:p>
            <a:pPr indent="0" marL="0">
              <a:buNone/>
            </a:pPr>
            <a:r>
              <a:rPr lang="en-US" sz="1200" b="1" dirty="0">
                <a:solidFill>
                  <a:schemeClr val="tx1"/>
                </a:solidFill>
              </a:rPr>
              <a:t>Du 19 sept.</a:t>
            </a:r>
            <a:endParaRPr lang="en-US" sz="1200" dirty="0"/>
          </a:p>
          <a:p>
            <a:pPr indent="0" marL="0">
              <a:buNone/>
            </a:pPr>
            <a:r>
              <a:rPr lang="en-US" sz="1200" b="1" dirty="0">
                <a:solidFill>
                  <a:schemeClr val="tx1"/>
                </a:solidFill>
              </a:rPr>
              <a:t>au 15 nov. 2026</a:t>
            </a:r>
            <a:endParaRPr lang="en-US" sz="1200" dirty="0"/>
          </a:p>
        </p:txBody>
      </p:sp>
      <p:sp>
        <p:nvSpPr>
          <p:cNvPr id="10" name="Fact label 3"/>
          <p:cNvSpPr txBox="1"/>
          <p:nvPr/>
        </p:nvSpPr>
        <p:spPr>
          <a:xfrm>
            <a:off x="4693920" y="1920240"/>
            <a:ext cx="175260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PRIX</a:t>
            </a:r>
            <a:endParaRPr lang="en-US" sz="1000" dirty="0"/>
          </a:p>
        </p:txBody>
      </p:sp>
      <p:sp>
        <p:nvSpPr>
          <p:cNvPr id="11" name="Fact value 3"/>
          <p:cNvSpPr txBox="1"/>
          <p:nvPr/>
        </p:nvSpPr>
        <p:spPr>
          <a:xfrm>
            <a:off x="4693920" y="2130552"/>
            <a:ext cx="1752600" cy="402336"/>
          </a:xfrm>
          <a:prstGeom prst="rect">
            <a:avLst/>
          </a:prstGeom>
          <a:noFill/>
          <a:ln/>
        </p:spPr>
        <p:txBody>
          <a:bodyPr wrap="square" lIns="0" tIns="0" rIns="0" bIns="0" rtlCol="0" anchor="t"/>
          <a:lstStyle/>
          <a:p>
            <a:pPr indent="0" marL="0">
              <a:buNone/>
            </a:pPr>
            <a:r>
              <a:rPr lang="en-US" sz="1200" b="1" dirty="0">
                <a:solidFill>
                  <a:schemeClr val="tx1"/>
                </a:solidFill>
              </a:rPr>
              <a:t>Gratuit</a:t>
            </a:r>
            <a:endParaRPr lang="en-US" sz="1200" dirty="0"/>
          </a:p>
          <a:p>
            <a:pPr indent="0" marL="0">
              <a:buNone/>
            </a:pPr>
            <a:r>
              <a:rPr lang="en-US" sz="1200" b="1" dirty="0">
                <a:solidFill>
                  <a:schemeClr val="tx1"/>
                </a:solidFill>
              </a:rPr>
              <a:t>(atelier parfum)</a:t>
            </a:r>
            <a:endParaRPr lang="en-US" sz="1200" dirty="0"/>
          </a:p>
        </p:txBody>
      </p:sp>
      <p:sp>
        <p:nvSpPr>
          <p:cNvPr id="12" name="Question icon circle 1"/>
          <p:cNvSpPr/>
          <p:nvPr/>
        </p:nvSpPr>
        <p:spPr>
          <a:xfrm>
            <a:off x="548640" y="2743200"/>
            <a:ext cx="420624" cy="420624"/>
          </a:xfrm>
          <a:prstGeom prst="ellipse">
            <a:avLst/>
          </a:prstGeom>
          <a:solidFill>
            <a:schemeClr val="accent1"/>
          </a:solidFill>
          <a:ln/>
        </p:spPr>
      </p:sp>
      <p:pic>
        <p:nvPicPr>
          <p:cNvPr id="13" name="Question icon 1" descr="preencoded.png">    </p:cNvPr>
          <p:cNvPicPr>
            <a:picLocks noChangeAspect="1"/>
          </p:cNvPicPr>
          <p:nvPr/>
        </p:nvPicPr>
        <p:blipFill>
          <a:blip r:embed="rId1"/>
          <a:stretch>
            <a:fillRect/>
          </a:stretch>
        </p:blipFill>
        <p:spPr>
          <a:xfrm>
            <a:off x="649224" y="2843784"/>
            <a:ext cx="219456" cy="219456"/>
          </a:xfrm>
          <a:prstGeom prst="rect">
            <a:avLst/>
          </a:prstGeom>
        </p:spPr>
      </p:pic>
      <p:sp>
        <p:nvSpPr>
          <p:cNvPr id="14" name="Question 1"/>
          <p:cNvSpPr txBox="1"/>
          <p:nvPr/>
        </p:nvSpPr>
        <p:spPr>
          <a:xfrm>
            <a:off x="1143000" y="2788920"/>
            <a:ext cx="5349240" cy="329184"/>
          </a:xfrm>
          <a:prstGeom prst="rect">
            <a:avLst/>
          </a:prstGeom>
          <a:noFill/>
          <a:ln/>
        </p:spPr>
        <p:txBody>
          <a:bodyPr wrap="square" lIns="0" tIns="0" rIns="0" bIns="0" rtlCol="0" anchor="ctr"/>
          <a:lstStyle/>
          <a:p>
            <a:pPr indent="0" marL="0">
              <a:buNone/>
            </a:pPr>
            <a:r>
              <a:rPr lang="en-US" sz="1500" b="1" dirty="0">
                <a:solidFill>
                  <a:schemeClr val="tx1"/>
                </a:solidFill>
              </a:rPr>
              <a:t>Qu’est-ce que c’est ?</a:t>
            </a:r>
            <a:endParaRPr lang="en-US" sz="1500" dirty="0"/>
          </a:p>
        </p:txBody>
      </p:sp>
      <p:sp>
        <p:nvSpPr>
          <p:cNvPr id="15" name="Step circle 1"/>
          <p:cNvSpPr/>
          <p:nvPr/>
        </p:nvSpPr>
        <p:spPr>
          <a:xfrm>
            <a:off x="1546479" y="3246120"/>
            <a:ext cx="530352" cy="530352"/>
          </a:xfrm>
          <a:prstGeom prst="ellipse">
            <a:avLst/>
          </a:prstGeom>
          <a:solidFill>
            <a:schemeClr val="bg2"/>
          </a:solidFill>
          <a:ln/>
        </p:spPr>
      </p:sp>
      <p:pic>
        <p:nvPicPr>
          <p:cNvPr id="16" name="Step icon 1" descr="preencoded.png">    </p:cNvPr>
          <p:cNvPicPr>
            <a:picLocks noChangeAspect="1"/>
          </p:cNvPicPr>
          <p:nvPr/>
        </p:nvPicPr>
        <p:blipFill>
          <a:blip r:embed="rId2"/>
          <a:stretch>
            <a:fillRect/>
          </a:stretch>
        </p:blipFill>
        <p:spPr>
          <a:xfrm>
            <a:off x="1665351" y="3364992"/>
            <a:ext cx="292608" cy="292608"/>
          </a:xfrm>
          <a:prstGeom prst="rect">
            <a:avLst/>
          </a:prstGeom>
        </p:spPr>
      </p:pic>
      <p:sp>
        <p:nvSpPr>
          <p:cNvPr id="17" name="Step label 1"/>
          <p:cNvSpPr txBox="1"/>
          <p:nvPr/>
        </p:nvSpPr>
        <p:spPr>
          <a:xfrm>
            <a:off x="1179576" y="3840480"/>
            <a:ext cx="1264158" cy="402336"/>
          </a:xfrm>
          <a:prstGeom prst="rect">
            <a:avLst/>
          </a:prstGeom>
          <a:noFill/>
          <a:ln/>
        </p:spPr>
        <p:txBody>
          <a:bodyPr wrap="square" lIns="0" tIns="0" rIns="0" bIns="0" rtlCol="0" anchor="t"/>
          <a:lstStyle/>
          <a:p>
            <a:pPr algn="ctr" indent="0" marL="0">
              <a:buNone/>
            </a:pPr>
            <a:r>
              <a:rPr lang="en-US" sz="1200" dirty="0">
                <a:solidFill>
                  <a:schemeClr val="tx1"/>
                </a:solidFill>
              </a:rPr>
              <a:t>Photo d’une personne aimée</a:t>
            </a:r>
            <a:endParaRPr lang="en-US" sz="1200" dirty="0"/>
          </a:p>
        </p:txBody>
      </p:sp>
      <p:pic>
        <p:nvPicPr>
          <p:cNvPr id="18" name="Step arrow 1" descr="preencoded.png">    </p:cNvPr>
          <p:cNvPicPr>
            <a:picLocks noChangeAspect="1"/>
          </p:cNvPicPr>
          <p:nvPr/>
        </p:nvPicPr>
        <p:blipFill>
          <a:blip r:embed="rId3"/>
          <a:stretch>
            <a:fillRect/>
          </a:stretch>
        </p:blipFill>
        <p:spPr>
          <a:xfrm>
            <a:off x="2379726" y="3410712"/>
            <a:ext cx="201168" cy="201168"/>
          </a:xfrm>
          <a:prstGeom prst="rect">
            <a:avLst/>
          </a:prstGeom>
        </p:spPr>
      </p:pic>
      <p:sp>
        <p:nvSpPr>
          <p:cNvPr id="19" name="Step circle 2"/>
          <p:cNvSpPr/>
          <p:nvPr/>
        </p:nvSpPr>
        <p:spPr>
          <a:xfrm>
            <a:off x="2883789" y="3246120"/>
            <a:ext cx="530352" cy="530352"/>
          </a:xfrm>
          <a:prstGeom prst="ellipse">
            <a:avLst/>
          </a:prstGeom>
          <a:solidFill>
            <a:schemeClr val="bg2"/>
          </a:solidFill>
          <a:ln/>
        </p:spPr>
      </p:sp>
      <p:pic>
        <p:nvPicPr>
          <p:cNvPr id="20" name="Step icon 2" descr="preencoded.png">    </p:cNvPr>
          <p:cNvPicPr>
            <a:picLocks noChangeAspect="1"/>
          </p:cNvPicPr>
          <p:nvPr/>
        </p:nvPicPr>
        <p:blipFill>
          <a:blip r:embed="rId4"/>
          <a:stretch>
            <a:fillRect/>
          </a:stretch>
        </p:blipFill>
        <p:spPr>
          <a:xfrm>
            <a:off x="3002661" y="3364992"/>
            <a:ext cx="292608" cy="292608"/>
          </a:xfrm>
          <a:prstGeom prst="rect">
            <a:avLst/>
          </a:prstGeom>
        </p:spPr>
      </p:pic>
      <p:sp>
        <p:nvSpPr>
          <p:cNvPr id="21" name="Step label 2"/>
          <p:cNvSpPr txBox="1"/>
          <p:nvPr/>
        </p:nvSpPr>
        <p:spPr>
          <a:xfrm>
            <a:off x="2516886" y="3840480"/>
            <a:ext cx="1264158" cy="402336"/>
          </a:xfrm>
          <a:prstGeom prst="rect">
            <a:avLst/>
          </a:prstGeom>
          <a:noFill/>
          <a:ln/>
        </p:spPr>
        <p:txBody>
          <a:bodyPr wrap="square" lIns="0" tIns="0" rIns="0" bIns="0" rtlCol="0" anchor="t"/>
          <a:lstStyle/>
          <a:p>
            <a:pPr algn="ctr" indent="0" marL="0">
              <a:buNone/>
            </a:pPr>
            <a:r>
              <a:rPr lang="en-US" sz="1200" dirty="0">
                <a:solidFill>
                  <a:schemeClr val="tx1"/>
                </a:solidFill>
              </a:rPr>
              <a:t>Ondes cérébrales</a:t>
            </a:r>
            <a:endParaRPr lang="en-US" sz="1200" dirty="0"/>
          </a:p>
        </p:txBody>
      </p:sp>
      <p:pic>
        <p:nvPicPr>
          <p:cNvPr id="22" name="Step arrow 2" descr="preencoded.png">    </p:cNvPr>
          <p:cNvPicPr>
            <a:picLocks noChangeAspect="1"/>
          </p:cNvPicPr>
          <p:nvPr/>
        </p:nvPicPr>
        <p:blipFill>
          <a:blip r:embed="rId5"/>
          <a:stretch>
            <a:fillRect/>
          </a:stretch>
        </p:blipFill>
        <p:spPr>
          <a:xfrm>
            <a:off x="3717036" y="3410712"/>
            <a:ext cx="201168" cy="201168"/>
          </a:xfrm>
          <a:prstGeom prst="rect">
            <a:avLst/>
          </a:prstGeom>
        </p:spPr>
      </p:pic>
      <p:sp>
        <p:nvSpPr>
          <p:cNvPr id="23" name="Step circle 3"/>
          <p:cNvSpPr/>
          <p:nvPr/>
        </p:nvSpPr>
        <p:spPr>
          <a:xfrm>
            <a:off x="4221099" y="3246120"/>
            <a:ext cx="530352" cy="530352"/>
          </a:xfrm>
          <a:prstGeom prst="ellipse">
            <a:avLst/>
          </a:prstGeom>
          <a:solidFill>
            <a:schemeClr val="bg2"/>
          </a:solidFill>
          <a:ln/>
        </p:spPr>
      </p:sp>
      <p:pic>
        <p:nvPicPr>
          <p:cNvPr id="24" name="Step icon 3" descr="preencoded.png">    </p:cNvPr>
          <p:cNvPicPr>
            <a:picLocks noChangeAspect="1"/>
          </p:cNvPicPr>
          <p:nvPr/>
        </p:nvPicPr>
        <p:blipFill>
          <a:blip r:embed="rId6"/>
          <a:stretch>
            <a:fillRect/>
          </a:stretch>
        </p:blipFill>
        <p:spPr>
          <a:xfrm>
            <a:off x="4339971" y="3364992"/>
            <a:ext cx="292608" cy="292608"/>
          </a:xfrm>
          <a:prstGeom prst="rect">
            <a:avLst/>
          </a:prstGeom>
        </p:spPr>
      </p:pic>
      <p:sp>
        <p:nvSpPr>
          <p:cNvPr id="25" name="Step label 3"/>
          <p:cNvSpPr txBox="1"/>
          <p:nvPr/>
        </p:nvSpPr>
        <p:spPr>
          <a:xfrm>
            <a:off x="3854196" y="3840480"/>
            <a:ext cx="1264158" cy="402336"/>
          </a:xfrm>
          <a:prstGeom prst="rect">
            <a:avLst/>
          </a:prstGeom>
          <a:noFill/>
          <a:ln/>
        </p:spPr>
        <p:txBody>
          <a:bodyPr wrap="square" lIns="0" tIns="0" rIns="0" bIns="0" rtlCol="0" anchor="t"/>
          <a:lstStyle/>
          <a:p>
            <a:pPr algn="ctr" indent="0" marL="0">
              <a:buNone/>
            </a:pPr>
            <a:r>
              <a:rPr lang="en-US" sz="1200" dirty="0">
                <a:solidFill>
                  <a:schemeClr val="tx1"/>
                </a:solidFill>
              </a:rPr>
              <a:t>11 parfums testés, 3 gardés</a:t>
            </a:r>
            <a:endParaRPr lang="en-US" sz="1200" dirty="0"/>
          </a:p>
        </p:txBody>
      </p:sp>
      <p:pic>
        <p:nvPicPr>
          <p:cNvPr id="26" name="Step arrow 3" descr="preencoded.png">    </p:cNvPr>
          <p:cNvPicPr>
            <a:picLocks noChangeAspect="1"/>
          </p:cNvPicPr>
          <p:nvPr/>
        </p:nvPicPr>
        <p:blipFill>
          <a:blip r:embed="rId7"/>
          <a:stretch>
            <a:fillRect/>
          </a:stretch>
        </p:blipFill>
        <p:spPr>
          <a:xfrm>
            <a:off x="5054346" y="3410712"/>
            <a:ext cx="201168" cy="201168"/>
          </a:xfrm>
          <a:prstGeom prst="rect">
            <a:avLst/>
          </a:prstGeom>
        </p:spPr>
      </p:pic>
      <p:sp>
        <p:nvSpPr>
          <p:cNvPr id="27" name="Step circle 4"/>
          <p:cNvSpPr/>
          <p:nvPr/>
        </p:nvSpPr>
        <p:spPr>
          <a:xfrm>
            <a:off x="5558409" y="3246120"/>
            <a:ext cx="530352" cy="530352"/>
          </a:xfrm>
          <a:prstGeom prst="ellipse">
            <a:avLst/>
          </a:prstGeom>
          <a:solidFill>
            <a:schemeClr val="bg2"/>
          </a:solidFill>
          <a:ln/>
        </p:spPr>
      </p:sp>
      <p:pic>
        <p:nvPicPr>
          <p:cNvPr id="28" name="Step icon 4" descr="preencoded.png">    </p:cNvPr>
          <p:cNvPicPr>
            <a:picLocks noChangeAspect="1"/>
          </p:cNvPicPr>
          <p:nvPr/>
        </p:nvPicPr>
        <p:blipFill>
          <a:blip r:embed="rId8"/>
          <a:stretch>
            <a:fillRect/>
          </a:stretch>
        </p:blipFill>
        <p:spPr>
          <a:xfrm>
            <a:off x="5677281" y="3364992"/>
            <a:ext cx="292608" cy="292608"/>
          </a:xfrm>
          <a:prstGeom prst="rect">
            <a:avLst/>
          </a:prstGeom>
        </p:spPr>
      </p:pic>
      <p:sp>
        <p:nvSpPr>
          <p:cNvPr id="29" name="Step label 4"/>
          <p:cNvSpPr txBox="1"/>
          <p:nvPr/>
        </p:nvSpPr>
        <p:spPr>
          <a:xfrm>
            <a:off x="5191506" y="3840480"/>
            <a:ext cx="1264158" cy="402336"/>
          </a:xfrm>
          <a:prstGeom prst="rect">
            <a:avLst/>
          </a:prstGeom>
          <a:noFill/>
          <a:ln/>
        </p:spPr>
        <p:txBody>
          <a:bodyPr wrap="square" lIns="0" tIns="0" rIns="0" bIns="0" rtlCol="0" anchor="t"/>
          <a:lstStyle/>
          <a:p>
            <a:pPr algn="ctr" indent="0" marL="0">
              <a:buNone/>
            </a:pPr>
            <a:r>
              <a:rPr lang="en-US" sz="1200" dirty="0">
                <a:solidFill>
                  <a:schemeClr val="tx1"/>
                </a:solidFill>
              </a:rPr>
              <a:t>1 parfum unique + 1 lettre</a:t>
            </a:r>
            <a:endParaRPr lang="en-US" sz="1200" dirty="0"/>
          </a:p>
        </p:txBody>
      </p:sp>
      <p:sp>
        <p:nvSpPr>
          <p:cNvPr id="30" name="Question icon circle 2"/>
          <p:cNvSpPr/>
          <p:nvPr/>
        </p:nvSpPr>
        <p:spPr>
          <a:xfrm>
            <a:off x="548640" y="4370832"/>
            <a:ext cx="420624" cy="420624"/>
          </a:xfrm>
          <a:prstGeom prst="ellipse">
            <a:avLst/>
          </a:prstGeom>
          <a:solidFill>
            <a:schemeClr val="accent1"/>
          </a:solidFill>
          <a:ln/>
        </p:spPr>
      </p:sp>
      <p:pic>
        <p:nvPicPr>
          <p:cNvPr id="31" name="Question icon 2" descr="preencoded.png">    </p:cNvPr>
          <p:cNvPicPr>
            <a:picLocks noChangeAspect="1"/>
          </p:cNvPicPr>
          <p:nvPr/>
        </p:nvPicPr>
        <p:blipFill>
          <a:blip r:embed="rId9"/>
          <a:stretch>
            <a:fillRect/>
          </a:stretch>
        </p:blipFill>
        <p:spPr>
          <a:xfrm>
            <a:off x="649224" y="4471416"/>
            <a:ext cx="219456" cy="219456"/>
          </a:xfrm>
          <a:prstGeom prst="rect">
            <a:avLst/>
          </a:prstGeom>
        </p:spPr>
      </p:pic>
      <p:sp>
        <p:nvSpPr>
          <p:cNvPr id="32" name="Question 2"/>
          <p:cNvSpPr txBox="1"/>
          <p:nvPr/>
        </p:nvSpPr>
        <p:spPr>
          <a:xfrm>
            <a:off x="1143000" y="4416552"/>
            <a:ext cx="5349240" cy="329184"/>
          </a:xfrm>
          <a:prstGeom prst="rect">
            <a:avLst/>
          </a:prstGeom>
          <a:noFill/>
          <a:ln/>
        </p:spPr>
        <p:txBody>
          <a:bodyPr wrap="square" lIns="0" tIns="0" rIns="0" bIns="0" rtlCol="0" anchor="ctr"/>
          <a:lstStyle/>
          <a:p>
            <a:pPr indent="0" marL="0">
              <a:buNone/>
            </a:pPr>
            <a:r>
              <a:rPr lang="en-US" sz="1500" b="1" dirty="0">
                <a:solidFill>
                  <a:schemeClr val="tx1"/>
                </a:solidFill>
              </a:rPr>
              <a:t>Pourquoi est-ce intéressant ?</a:t>
            </a:r>
            <a:endParaRPr lang="en-US" sz="1500" dirty="0"/>
          </a:p>
        </p:txBody>
      </p:sp>
      <p:sp>
        <p:nvSpPr>
          <p:cNvPr id="33" name="Answer 2"/>
          <p:cNvSpPr txBox="1"/>
          <p:nvPr/>
        </p:nvSpPr>
        <p:spPr>
          <a:xfrm>
            <a:off x="1143000" y="4791456"/>
            <a:ext cx="5349240" cy="502920"/>
          </a:xfrm>
          <a:prstGeom prst="rect">
            <a:avLst/>
          </a:prstGeom>
          <a:noFill/>
          <a:ln/>
        </p:spPr>
        <p:txBody>
          <a:bodyPr wrap="square" lIns="0" tIns="0" rIns="0" bIns="0" rtlCol="0" anchor="t"/>
          <a:lstStyle/>
          <a:p>
            <a:pPr indent="0" marL="0">
              <a:buNone/>
            </a:pPr>
            <a:r>
              <a:rPr lang="en-US" sz="1400" dirty="0">
                <a:solidFill>
                  <a:schemeClr val="tx2"/>
                </a:solidFill>
              </a:rPr>
              <a:t>Un opérateur vend des données, invisibles. Ici, il les transforme en émotion : le parfum représente une personne aimée.</a:t>
            </a:r>
            <a:endParaRPr lang="en-US" sz="1400" dirty="0"/>
          </a:p>
        </p:txBody>
      </p:sp>
      <p:sp>
        <p:nvSpPr>
          <p:cNvPr id="34" name="Question icon circle 3"/>
          <p:cNvSpPr/>
          <p:nvPr/>
        </p:nvSpPr>
        <p:spPr>
          <a:xfrm>
            <a:off x="548640" y="5394960"/>
            <a:ext cx="420624" cy="420624"/>
          </a:xfrm>
          <a:prstGeom prst="ellipse">
            <a:avLst/>
          </a:prstGeom>
          <a:solidFill>
            <a:schemeClr val="accent1"/>
          </a:solidFill>
          <a:ln/>
        </p:spPr>
      </p:sp>
      <p:pic>
        <p:nvPicPr>
          <p:cNvPr id="35" name="Question icon 3" descr="preencoded.png">    </p:cNvPr>
          <p:cNvPicPr>
            <a:picLocks noChangeAspect="1"/>
          </p:cNvPicPr>
          <p:nvPr/>
        </p:nvPicPr>
        <p:blipFill>
          <a:blip r:embed="rId10"/>
          <a:stretch>
            <a:fillRect/>
          </a:stretch>
        </p:blipFill>
        <p:spPr>
          <a:xfrm>
            <a:off x="649224" y="5495544"/>
            <a:ext cx="219456" cy="219456"/>
          </a:xfrm>
          <a:prstGeom prst="rect">
            <a:avLst/>
          </a:prstGeom>
        </p:spPr>
      </p:pic>
      <p:sp>
        <p:nvSpPr>
          <p:cNvPr id="36" name="Question 3"/>
          <p:cNvSpPr txBox="1"/>
          <p:nvPr/>
        </p:nvSpPr>
        <p:spPr>
          <a:xfrm>
            <a:off x="1143000" y="5440680"/>
            <a:ext cx="5349240" cy="329184"/>
          </a:xfrm>
          <a:prstGeom prst="rect">
            <a:avLst/>
          </a:prstGeom>
          <a:noFill/>
          <a:ln/>
        </p:spPr>
        <p:txBody>
          <a:bodyPr wrap="square" lIns="0" tIns="0" rIns="0" bIns="0" rtlCol="0" anchor="ctr"/>
          <a:lstStyle/>
          <a:p>
            <a:pPr indent="0" marL="0">
              <a:buNone/>
            </a:pPr>
            <a:r>
              <a:rPr lang="en-US" sz="1500" b="1" dirty="0">
                <a:solidFill>
                  <a:schemeClr val="tx1"/>
                </a:solidFill>
              </a:rPr>
              <a:t>Ce que l’événementiel peut en apprendre</a:t>
            </a:r>
            <a:endParaRPr lang="en-US" sz="1500" dirty="0"/>
          </a:p>
        </p:txBody>
      </p:sp>
      <p:sp>
        <p:nvSpPr>
          <p:cNvPr id="37" name="Answer 3"/>
          <p:cNvSpPr txBox="1"/>
          <p:nvPr/>
        </p:nvSpPr>
        <p:spPr>
          <a:xfrm>
            <a:off x="1143000" y="5815584"/>
            <a:ext cx="5349240" cy="502920"/>
          </a:xfrm>
          <a:prstGeom prst="rect">
            <a:avLst/>
          </a:prstGeom>
          <a:noFill/>
          <a:ln/>
        </p:spPr>
        <p:txBody>
          <a:bodyPr wrap="square" lIns="0" tIns="0" rIns="0" bIns="0" rtlCol="0" anchor="t"/>
          <a:lstStyle/>
          <a:p>
            <a:pPr indent="0" marL="0">
              <a:buNone/>
            </a:pPr>
            <a:r>
              <a:rPr lang="en-US" sz="1400" dirty="0">
                <a:solidFill>
                  <a:schemeClr val="tx2"/>
                </a:solidFill>
              </a:rPr>
              <a:t>La technologie doit servir l’émotion. Le participant repart avec un souvenir unique.</a:t>
            </a:r>
            <a:endParaRPr lang="en-US" sz="1400" dirty="0"/>
          </a:p>
        </p:txBody>
      </p:sp>
      <p:pic>
        <p:nvPicPr>
          <p:cNvPr id="38" name="Photo top" descr="/tmp/claude-0/-home-user-H-C-B-I/d655295d-9dfe-5866-b7ef-2a882ec2c7de/scratchpad/fitted/s2_top.jpg">    </p:cNvPr>
          <p:cNvPicPr>
            <a:picLocks noChangeAspect="1"/>
          </p:cNvPicPr>
          <p:nvPr/>
        </p:nvPicPr>
        <p:blipFill>
          <a:blip r:embed="rId11"/>
          <a:stretch>
            <a:fillRect/>
          </a:stretch>
        </p:blipFill>
        <p:spPr>
          <a:xfrm>
            <a:off x="6949440" y="0"/>
            <a:ext cx="5242255" cy="3749040"/>
          </a:xfrm>
          <a:prstGeom prst="rect">
            <a:avLst/>
          </a:prstGeom>
        </p:spPr>
      </p:pic>
      <p:pic>
        <p:nvPicPr>
          <p:cNvPr id="39" name="Photo bottom" descr="/tmp/claude-0/-home-user-H-C-B-I/d655295d-9dfe-5866-b7ef-2a882ec2c7de/scratchpad/fitted/s2_bot.jpg">    </p:cNvPr>
          <p:cNvPicPr>
            <a:picLocks noChangeAspect="1"/>
          </p:cNvPicPr>
          <p:nvPr/>
        </p:nvPicPr>
        <p:blipFill>
          <a:blip r:embed="rId12"/>
          <a:stretch>
            <a:fillRect/>
          </a:stretch>
        </p:blipFill>
        <p:spPr>
          <a:xfrm>
            <a:off x="6949440" y="3803904"/>
            <a:ext cx="5242255" cy="3054096"/>
          </a:xfrm>
          <a:prstGeom prst="rect">
            <a:avLst/>
          </a:prstGeom>
        </p:spPr>
      </p:pic>
      <p:sp>
        <p:nvSpPr>
          <p:cNvPr id="40" name="Caption band"/>
          <p:cNvSpPr/>
          <p:nvPr/>
        </p:nvSpPr>
        <p:spPr>
          <a:xfrm>
            <a:off x="6949440" y="6510528"/>
            <a:ext cx="5242255" cy="347472"/>
          </a:xfrm>
          <a:prstGeom prst="rect">
            <a:avLst/>
          </a:prstGeom>
          <a:solidFill>
            <a:schemeClr val="tx1">
              <a:alpha val="70000"/>
            </a:schemeClr>
          </a:solidFill>
          <a:ln/>
        </p:spPr>
      </p:sp>
      <p:sp>
        <p:nvSpPr>
          <p:cNvPr id="41" name="Photo caption"/>
          <p:cNvSpPr txBox="1"/>
          <p:nvPr/>
        </p:nvSpPr>
        <p:spPr>
          <a:xfrm>
            <a:off x="7132320" y="6510528"/>
            <a:ext cx="4937760" cy="347472"/>
          </a:xfrm>
          <a:prstGeom prst="rect">
            <a:avLst/>
          </a:prstGeom>
          <a:noFill/>
          <a:ln/>
        </p:spPr>
        <p:txBody>
          <a:bodyPr wrap="square" lIns="0" tIns="0" rIns="0" bIns="0" rtlCol="0" anchor="ctr"/>
          <a:lstStyle/>
          <a:p>
            <a:pPr indent="0" marL="0">
              <a:buNone/>
            </a:pPr>
            <a:r>
              <a:rPr lang="en-US" sz="1000" dirty="0">
                <a:solidFill>
                  <a:schemeClr val="bg1"/>
                </a:solidFill>
              </a:rPr>
              <a:t>Emotion Lab, T Factory Seongsu · Photos : SK Telecom Newsroom</a:t>
            </a:r>
            <a:endParaRPr lang="en-US" sz="1000" dirty="0"/>
          </a:p>
        </p:txBody>
      </p:sp>
      <p:sp>
        <p:nvSpPr>
          <p:cNvPr id="42" name="Sources footer"/>
          <p:cNvSpPr txBox="1"/>
          <p:nvPr/>
        </p:nvSpPr>
        <p:spPr>
          <a:xfrm>
            <a:off x="548640" y="6446520"/>
            <a:ext cx="5943600" cy="256032"/>
          </a:xfrm>
          <a:prstGeom prst="rect">
            <a:avLst/>
          </a:prstGeom>
          <a:noFill/>
          <a:ln/>
        </p:spPr>
        <p:txBody>
          <a:bodyPr wrap="square" lIns="0" tIns="0" rIns="0" bIns="0" rtlCol="0" anchor="ctr"/>
          <a:lstStyle/>
          <a:p>
            <a:pPr indent="0" marL="0">
              <a:buNone/>
            </a:pPr>
            <a:r>
              <a:rPr lang="en-US" sz="1000" dirty="0">
                <a:solidFill>
                  <a:schemeClr val="tx2"/>
                </a:solidFill>
              </a:rPr>
              <a:t>Sources : SK Telecom Newsroom · ZDNet Korea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384048"/>
            <a:ext cx="5943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03 · JOURNÉES DU PATRIMOINE · PARIS</a:t>
            </a:r>
            <a:endParaRPr lang="en-US" sz="1200" dirty="0"/>
          </a:p>
        </p:txBody>
      </p:sp>
      <p:sp>
        <p:nvSpPr>
          <p:cNvPr id="3" name="Text 0"/>
          <p:cNvSpPr/>
          <p:nvPr>
            <p:ph idx="100" type="title" hasCustomPrompt="1"/>
          </p:nvPr>
        </p:nvSpPr>
        <p:spPr>
          <a:xfrm>
            <a:off x="548640" y="676656"/>
            <a:ext cx="5943600" cy="658368"/>
          </a:xfrm>
          <a:prstGeom prst="rect">
            <a:avLst/>
          </a:prstGeom>
          <a:noFill/>
          <a:ln/>
        </p:spPr>
        <p:txBody>
          <a:bodyPr wrap="square" lIns="0" tIns="0" rIns="0" bIns="0" rtlCol="0" anchor="ctr"/>
          <a:lstStyle/>
          <a:p>
            <a:pPr algn="l" indent="0" marL="0">
              <a:buNone/>
            </a:pPr>
            <a:r>
              <a:rPr lang="en-US" sz="3400" b="1" dirty="0">
                <a:solidFill>
                  <a:schemeClr val="tx1"/>
                </a:solidFill>
              </a:rPr>
              <a:t>La Bibliothèque vivante</a:t>
            </a:r>
            <a:endParaRPr lang="en-US" sz="3400" dirty="0"/>
          </a:p>
        </p:txBody>
      </p:sp>
      <p:sp>
        <p:nvSpPr>
          <p:cNvPr id="4" name="Text 0"/>
          <p:cNvSpPr/>
          <p:nvPr>
            <p:ph idx="101" type="body" hasCustomPrompt="1"/>
          </p:nvPr>
        </p:nvSpPr>
        <p:spPr>
          <a:xfrm>
            <a:off x="548640" y="1353312"/>
            <a:ext cx="5943600" cy="365760"/>
          </a:xfrm>
          <a:prstGeom prst="rect">
            <a:avLst/>
          </a:prstGeom>
          <a:noFill/>
          <a:ln/>
        </p:spPr>
        <p:txBody>
          <a:bodyPr wrap="square" lIns="0" tIns="0" rIns="0" bIns="0" rtlCol="0" anchor="ctr"/>
          <a:lstStyle/>
          <a:p>
            <a:pPr algn="l" indent="0" marL="0">
              <a:buNone/>
            </a:pPr>
            <a:r>
              <a:rPr lang="en-US" sz="1600" dirty="0">
                <a:solidFill>
                  <a:schemeClr val="tx2"/>
                </a:solidFill>
              </a:rPr>
              <a:t>Fanny de Chaillé · Archives nationales, Paris</a:t>
            </a:r>
            <a:endParaRPr lang="en-US" sz="1600" dirty="0"/>
          </a:p>
        </p:txBody>
      </p:sp>
      <p:sp>
        <p:nvSpPr>
          <p:cNvPr id="5" name="Facts box"/>
          <p:cNvSpPr/>
          <p:nvPr/>
        </p:nvSpPr>
        <p:spPr>
          <a:xfrm>
            <a:off x="548640" y="1828800"/>
            <a:ext cx="5943600" cy="768096"/>
          </a:xfrm>
          <a:prstGeom prst="roundRect">
            <a:avLst>
              <a:gd name="adj" fmla="val 9524"/>
            </a:avLst>
          </a:prstGeom>
          <a:solidFill>
            <a:schemeClr val="bg2"/>
          </a:solidFill>
          <a:ln/>
        </p:spPr>
      </p:sp>
      <p:sp>
        <p:nvSpPr>
          <p:cNvPr id="6" name="Fact label 1"/>
          <p:cNvSpPr txBox="1"/>
          <p:nvPr/>
        </p:nvSpPr>
        <p:spPr>
          <a:xfrm>
            <a:off x="731520" y="1920240"/>
            <a:ext cx="175260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OÙ</a:t>
            </a:r>
            <a:endParaRPr lang="en-US" sz="1000" dirty="0"/>
          </a:p>
        </p:txBody>
      </p:sp>
      <p:sp>
        <p:nvSpPr>
          <p:cNvPr id="7" name="Fact value 1"/>
          <p:cNvSpPr txBox="1"/>
          <p:nvPr/>
        </p:nvSpPr>
        <p:spPr>
          <a:xfrm>
            <a:off x="731520" y="2130552"/>
            <a:ext cx="1752600" cy="402336"/>
          </a:xfrm>
          <a:prstGeom prst="rect">
            <a:avLst/>
          </a:prstGeom>
          <a:noFill/>
          <a:ln/>
        </p:spPr>
        <p:txBody>
          <a:bodyPr wrap="square" lIns="0" tIns="0" rIns="0" bIns="0" rtlCol="0" anchor="t"/>
          <a:lstStyle/>
          <a:p>
            <a:pPr indent="0" marL="0">
              <a:buNone/>
            </a:pPr>
            <a:r>
              <a:rPr lang="en-US" sz="1200" b="1" dirty="0">
                <a:solidFill>
                  <a:schemeClr val="tx1"/>
                </a:solidFill>
              </a:rPr>
              <a:t>Archives nationales</a:t>
            </a:r>
            <a:endParaRPr lang="en-US" sz="1200" dirty="0"/>
          </a:p>
          <a:p>
            <a:pPr indent="0" marL="0">
              <a:buNone/>
            </a:pPr>
            <a:r>
              <a:rPr lang="en-US" sz="1200" b="1" dirty="0">
                <a:solidFill>
                  <a:schemeClr val="tx1"/>
                </a:solidFill>
              </a:rPr>
              <a:t>Paris</a:t>
            </a:r>
            <a:endParaRPr lang="en-US" sz="1200" dirty="0"/>
          </a:p>
        </p:txBody>
      </p:sp>
      <p:sp>
        <p:nvSpPr>
          <p:cNvPr id="8" name="Fact label 2"/>
          <p:cNvSpPr txBox="1"/>
          <p:nvPr/>
        </p:nvSpPr>
        <p:spPr>
          <a:xfrm>
            <a:off x="2712720" y="1920240"/>
            <a:ext cx="175260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QUAND</a:t>
            </a:r>
            <a:endParaRPr lang="en-US" sz="1000" dirty="0"/>
          </a:p>
        </p:txBody>
      </p:sp>
      <p:sp>
        <p:nvSpPr>
          <p:cNvPr id="9" name="Fact value 2"/>
          <p:cNvSpPr txBox="1"/>
          <p:nvPr/>
        </p:nvSpPr>
        <p:spPr>
          <a:xfrm>
            <a:off x="2712720" y="2130552"/>
            <a:ext cx="1752600" cy="402336"/>
          </a:xfrm>
          <a:prstGeom prst="rect">
            <a:avLst/>
          </a:prstGeom>
          <a:noFill/>
          <a:ln/>
        </p:spPr>
        <p:txBody>
          <a:bodyPr wrap="square" lIns="0" tIns="0" rIns="0" bIns="0" rtlCol="0" anchor="t"/>
          <a:lstStyle/>
          <a:p>
            <a:pPr indent="0" marL="0">
              <a:buNone/>
            </a:pPr>
            <a:r>
              <a:rPr lang="en-US" sz="1200" b="1" dirty="0">
                <a:solidFill>
                  <a:schemeClr val="tx1"/>
                </a:solidFill>
              </a:rPr>
              <a:t>Les 19 et 20</a:t>
            </a:r>
            <a:endParaRPr lang="en-US" sz="1200" dirty="0"/>
          </a:p>
          <a:p>
            <a:pPr indent="0" marL="0">
              <a:buNone/>
            </a:pPr>
            <a:r>
              <a:rPr lang="en-US" sz="1200" b="1" dirty="0">
                <a:solidFill>
                  <a:schemeClr val="tx1"/>
                </a:solidFill>
              </a:rPr>
              <a:t>septembre 2026</a:t>
            </a:r>
            <a:endParaRPr lang="en-US" sz="1200" dirty="0"/>
          </a:p>
        </p:txBody>
      </p:sp>
      <p:sp>
        <p:nvSpPr>
          <p:cNvPr id="10" name="Fact label 3"/>
          <p:cNvSpPr txBox="1"/>
          <p:nvPr/>
        </p:nvSpPr>
        <p:spPr>
          <a:xfrm>
            <a:off x="4693920" y="1920240"/>
            <a:ext cx="175260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ARTISTE</a:t>
            </a:r>
            <a:endParaRPr lang="en-US" sz="1000" dirty="0"/>
          </a:p>
        </p:txBody>
      </p:sp>
      <p:sp>
        <p:nvSpPr>
          <p:cNvPr id="11" name="Fact value 3"/>
          <p:cNvSpPr txBox="1"/>
          <p:nvPr/>
        </p:nvSpPr>
        <p:spPr>
          <a:xfrm>
            <a:off x="4693920" y="2130552"/>
            <a:ext cx="1752600" cy="402336"/>
          </a:xfrm>
          <a:prstGeom prst="rect">
            <a:avLst/>
          </a:prstGeom>
          <a:noFill/>
          <a:ln/>
        </p:spPr>
        <p:txBody>
          <a:bodyPr wrap="square" lIns="0" tIns="0" rIns="0" bIns="0" rtlCol="0" anchor="t"/>
          <a:lstStyle/>
          <a:p>
            <a:pPr indent="0" marL="0">
              <a:buNone/>
            </a:pPr>
            <a:r>
              <a:rPr lang="en-US" sz="1200" b="1" dirty="0">
                <a:solidFill>
                  <a:schemeClr val="tx1"/>
                </a:solidFill>
              </a:rPr>
              <a:t>Fanny de Chaillé</a:t>
            </a:r>
            <a:endParaRPr lang="en-US" sz="1200" dirty="0"/>
          </a:p>
        </p:txBody>
      </p:sp>
      <p:sp>
        <p:nvSpPr>
          <p:cNvPr id="12" name="Question icon circle 1"/>
          <p:cNvSpPr/>
          <p:nvPr/>
        </p:nvSpPr>
        <p:spPr>
          <a:xfrm>
            <a:off x="548640" y="2743200"/>
            <a:ext cx="420624" cy="420624"/>
          </a:xfrm>
          <a:prstGeom prst="ellipse">
            <a:avLst/>
          </a:prstGeom>
          <a:solidFill>
            <a:schemeClr val="accent1"/>
          </a:solidFill>
          <a:ln/>
        </p:spPr>
      </p:sp>
      <p:pic>
        <p:nvPicPr>
          <p:cNvPr id="13" name="Question icon 1" descr="preencoded.png">    </p:cNvPr>
          <p:cNvPicPr>
            <a:picLocks noChangeAspect="1"/>
          </p:cNvPicPr>
          <p:nvPr/>
        </p:nvPicPr>
        <p:blipFill>
          <a:blip r:embed="rId1"/>
          <a:stretch>
            <a:fillRect/>
          </a:stretch>
        </p:blipFill>
        <p:spPr>
          <a:xfrm>
            <a:off x="649224" y="2843784"/>
            <a:ext cx="219456" cy="219456"/>
          </a:xfrm>
          <a:prstGeom prst="rect">
            <a:avLst/>
          </a:prstGeom>
        </p:spPr>
      </p:pic>
      <p:sp>
        <p:nvSpPr>
          <p:cNvPr id="14" name="Question 1"/>
          <p:cNvSpPr txBox="1"/>
          <p:nvPr/>
        </p:nvSpPr>
        <p:spPr>
          <a:xfrm>
            <a:off x="1143000" y="2788920"/>
            <a:ext cx="5349240" cy="329184"/>
          </a:xfrm>
          <a:prstGeom prst="rect">
            <a:avLst/>
          </a:prstGeom>
          <a:noFill/>
          <a:ln/>
        </p:spPr>
        <p:txBody>
          <a:bodyPr wrap="square" lIns="0" tIns="0" rIns="0" bIns="0" rtlCol="0" anchor="ctr"/>
          <a:lstStyle/>
          <a:p>
            <a:pPr indent="0" marL="0">
              <a:buNone/>
            </a:pPr>
            <a:r>
              <a:rPr lang="en-US" sz="1500" b="1" dirty="0">
                <a:solidFill>
                  <a:schemeClr val="tx1"/>
                </a:solidFill>
              </a:rPr>
              <a:t>Qu’est-ce que c’est ?</a:t>
            </a:r>
            <a:endParaRPr lang="en-US" sz="1500" dirty="0"/>
          </a:p>
        </p:txBody>
      </p:sp>
      <p:sp>
        <p:nvSpPr>
          <p:cNvPr id="15" name="Answer 1"/>
          <p:cNvSpPr txBox="1"/>
          <p:nvPr/>
        </p:nvSpPr>
        <p:spPr>
          <a:xfrm>
            <a:off x="1143000" y="3163824"/>
            <a:ext cx="5349240" cy="713232"/>
          </a:xfrm>
          <a:prstGeom prst="rect">
            <a:avLst/>
          </a:prstGeom>
          <a:noFill/>
          <a:ln/>
        </p:spPr>
        <p:txBody>
          <a:bodyPr wrap="square" lIns="0" tIns="0" rIns="0" bIns="0" rtlCol="0" anchor="t"/>
          <a:lstStyle/>
          <a:p>
            <a:pPr indent="0" marL="0">
              <a:buNone/>
            </a:pPr>
            <a:r>
              <a:rPr lang="en-US" sz="1400" dirty="0">
                <a:solidFill>
                  <a:schemeClr val="tx2"/>
                </a:solidFill>
              </a:rPr>
              <a:t>On n’emprunte pas un livre, on emprunte une personne. Des volontaires préparent leur histoire avec l’artiste, puis parlent 20 minutes en tête-à-tête avec un visiteur.</a:t>
            </a:r>
            <a:endParaRPr lang="en-US" sz="1400" dirty="0"/>
          </a:p>
        </p:txBody>
      </p:sp>
      <p:sp>
        <p:nvSpPr>
          <p:cNvPr id="16" name="Question icon circle 2"/>
          <p:cNvSpPr/>
          <p:nvPr/>
        </p:nvSpPr>
        <p:spPr>
          <a:xfrm>
            <a:off x="548640" y="3950208"/>
            <a:ext cx="420624" cy="420624"/>
          </a:xfrm>
          <a:prstGeom prst="ellipse">
            <a:avLst/>
          </a:prstGeom>
          <a:solidFill>
            <a:schemeClr val="accent1"/>
          </a:solidFill>
          <a:ln/>
        </p:spPr>
      </p:sp>
      <p:pic>
        <p:nvPicPr>
          <p:cNvPr id="17" name="Question icon 2" descr="preencoded.png">    </p:cNvPr>
          <p:cNvPicPr>
            <a:picLocks noChangeAspect="1"/>
          </p:cNvPicPr>
          <p:nvPr/>
        </p:nvPicPr>
        <p:blipFill>
          <a:blip r:embed="rId2"/>
          <a:stretch>
            <a:fillRect/>
          </a:stretch>
        </p:blipFill>
        <p:spPr>
          <a:xfrm>
            <a:off x="649224" y="4050792"/>
            <a:ext cx="219456" cy="219456"/>
          </a:xfrm>
          <a:prstGeom prst="rect">
            <a:avLst/>
          </a:prstGeom>
        </p:spPr>
      </p:pic>
      <p:sp>
        <p:nvSpPr>
          <p:cNvPr id="18" name="Question 2"/>
          <p:cNvSpPr txBox="1"/>
          <p:nvPr/>
        </p:nvSpPr>
        <p:spPr>
          <a:xfrm>
            <a:off x="1143000" y="3995928"/>
            <a:ext cx="5349240" cy="329184"/>
          </a:xfrm>
          <a:prstGeom prst="rect">
            <a:avLst/>
          </a:prstGeom>
          <a:noFill/>
          <a:ln/>
        </p:spPr>
        <p:txBody>
          <a:bodyPr wrap="square" lIns="0" tIns="0" rIns="0" bIns="0" rtlCol="0" anchor="ctr"/>
          <a:lstStyle/>
          <a:p>
            <a:pPr indent="0" marL="0">
              <a:buNone/>
            </a:pPr>
            <a:r>
              <a:rPr lang="en-US" sz="1500" b="1" dirty="0">
                <a:solidFill>
                  <a:schemeClr val="tx1"/>
                </a:solidFill>
              </a:rPr>
              <a:t>Pourquoi est-ce intéressant ?</a:t>
            </a:r>
            <a:endParaRPr lang="en-US" sz="1500" dirty="0"/>
          </a:p>
        </p:txBody>
      </p:sp>
      <p:sp>
        <p:nvSpPr>
          <p:cNvPr id="19" name="Answer 2"/>
          <p:cNvSpPr txBox="1"/>
          <p:nvPr/>
        </p:nvSpPr>
        <p:spPr>
          <a:xfrm>
            <a:off x="1143000" y="4370832"/>
            <a:ext cx="5349240" cy="713232"/>
          </a:xfrm>
          <a:prstGeom prst="rect">
            <a:avLst/>
          </a:prstGeom>
          <a:noFill/>
          <a:ln/>
        </p:spPr>
        <p:txBody>
          <a:bodyPr wrap="square" lIns="0" tIns="0" rIns="0" bIns="0" rtlCol="0" anchor="t"/>
          <a:lstStyle/>
          <a:p>
            <a:pPr indent="0" marL="0">
              <a:buNone/>
            </a:pPr>
            <a:r>
              <a:rPr lang="en-US" sz="1400" dirty="0">
                <a:solidFill>
                  <a:schemeClr val="tx2"/>
                </a:solidFill>
              </a:rPr>
              <a:t>Pas de technologie, pas d’écran : deux personnes qui se parlent. Dans un lieu d’archives écrites, ce sont des personnes vivantes qui racontent.</a:t>
            </a:r>
            <a:endParaRPr lang="en-US" sz="1400" dirty="0"/>
          </a:p>
        </p:txBody>
      </p:sp>
      <p:sp>
        <p:nvSpPr>
          <p:cNvPr id="20" name="Question icon circle 3"/>
          <p:cNvSpPr/>
          <p:nvPr/>
        </p:nvSpPr>
        <p:spPr>
          <a:xfrm>
            <a:off x="548640" y="5157216"/>
            <a:ext cx="420624" cy="420624"/>
          </a:xfrm>
          <a:prstGeom prst="ellipse">
            <a:avLst/>
          </a:prstGeom>
          <a:solidFill>
            <a:schemeClr val="accent1"/>
          </a:solidFill>
          <a:ln/>
        </p:spPr>
      </p:sp>
      <p:pic>
        <p:nvPicPr>
          <p:cNvPr id="21" name="Question icon 3" descr="preencoded.png">    </p:cNvPr>
          <p:cNvPicPr>
            <a:picLocks noChangeAspect="1"/>
          </p:cNvPicPr>
          <p:nvPr/>
        </p:nvPicPr>
        <p:blipFill>
          <a:blip r:embed="rId3"/>
          <a:stretch>
            <a:fillRect/>
          </a:stretch>
        </p:blipFill>
        <p:spPr>
          <a:xfrm>
            <a:off x="649224" y="5257800"/>
            <a:ext cx="219456" cy="219456"/>
          </a:xfrm>
          <a:prstGeom prst="rect">
            <a:avLst/>
          </a:prstGeom>
        </p:spPr>
      </p:pic>
      <p:sp>
        <p:nvSpPr>
          <p:cNvPr id="22" name="Question 3"/>
          <p:cNvSpPr txBox="1"/>
          <p:nvPr/>
        </p:nvSpPr>
        <p:spPr>
          <a:xfrm>
            <a:off x="1143000" y="5202936"/>
            <a:ext cx="5349240" cy="329184"/>
          </a:xfrm>
          <a:prstGeom prst="rect">
            <a:avLst/>
          </a:prstGeom>
          <a:noFill/>
          <a:ln/>
        </p:spPr>
        <p:txBody>
          <a:bodyPr wrap="square" lIns="0" tIns="0" rIns="0" bIns="0" rtlCol="0" anchor="ctr"/>
          <a:lstStyle/>
          <a:p>
            <a:pPr indent="0" marL="0">
              <a:buNone/>
            </a:pPr>
            <a:r>
              <a:rPr lang="en-US" sz="1500" b="1" dirty="0">
                <a:solidFill>
                  <a:schemeClr val="tx1"/>
                </a:solidFill>
              </a:rPr>
              <a:t>Ce que l’événementiel peut en apprendre</a:t>
            </a:r>
            <a:endParaRPr lang="en-US" sz="1500" dirty="0"/>
          </a:p>
        </p:txBody>
      </p:sp>
      <p:sp>
        <p:nvSpPr>
          <p:cNvPr id="23" name="Answer 3"/>
          <p:cNvSpPr txBox="1"/>
          <p:nvPr/>
        </p:nvSpPr>
        <p:spPr>
          <a:xfrm>
            <a:off x="1143000" y="5577840"/>
            <a:ext cx="5349240" cy="502920"/>
          </a:xfrm>
          <a:prstGeom prst="rect">
            <a:avLst/>
          </a:prstGeom>
          <a:noFill/>
          <a:ln/>
        </p:spPr>
        <p:txBody>
          <a:bodyPr wrap="square" lIns="0" tIns="0" rIns="0" bIns="0" rtlCol="0" anchor="t"/>
          <a:lstStyle/>
          <a:p>
            <a:pPr indent="0" marL="0">
              <a:buNone/>
            </a:pPr>
            <a:r>
              <a:rPr lang="en-US" sz="1400" dirty="0">
                <a:solidFill>
                  <a:schemeClr val="tx2"/>
                </a:solidFill>
              </a:rPr>
              <a:t>Dans un grand événement, un moment en tête-à-tête peut être le plus mémorable. Ce qui compte : l’émotion et l’humain.</a:t>
            </a:r>
            <a:endParaRPr lang="en-US" sz="1400" dirty="0"/>
          </a:p>
        </p:txBody>
      </p:sp>
      <p:pic>
        <p:nvPicPr>
          <p:cNvPr id="24" name="Photo top" descr="/tmp/claude-0/-home-user-H-C-B-I/d655295d-9dfe-5866-b7ef-2a882ec2c7de/scratchpad/fitted/s3_top.jpg">    </p:cNvPr>
          <p:cNvPicPr>
            <a:picLocks noChangeAspect="1"/>
          </p:cNvPicPr>
          <p:nvPr/>
        </p:nvPicPr>
        <p:blipFill>
          <a:blip r:embed="rId4"/>
          <a:stretch>
            <a:fillRect/>
          </a:stretch>
        </p:blipFill>
        <p:spPr>
          <a:xfrm>
            <a:off x="6949440" y="0"/>
            <a:ext cx="5242255" cy="3749040"/>
          </a:xfrm>
          <a:prstGeom prst="rect">
            <a:avLst/>
          </a:prstGeom>
        </p:spPr>
      </p:pic>
      <p:pic>
        <p:nvPicPr>
          <p:cNvPr id="25" name="Photo bottom" descr="/tmp/claude-0/-home-user-H-C-B-I/d655295d-9dfe-5866-b7ef-2a882ec2c7de/scratchpad/fitted/s3_bot.jpg">    </p:cNvPr>
          <p:cNvPicPr>
            <a:picLocks noChangeAspect="1"/>
          </p:cNvPicPr>
          <p:nvPr/>
        </p:nvPicPr>
        <p:blipFill>
          <a:blip r:embed="rId5"/>
          <a:stretch>
            <a:fillRect/>
          </a:stretch>
        </p:blipFill>
        <p:spPr>
          <a:xfrm>
            <a:off x="6949440" y="3803904"/>
            <a:ext cx="5242255" cy="3054096"/>
          </a:xfrm>
          <a:prstGeom prst="rect">
            <a:avLst/>
          </a:prstGeom>
        </p:spPr>
      </p:pic>
      <p:sp>
        <p:nvSpPr>
          <p:cNvPr id="26" name="Caption band"/>
          <p:cNvSpPr/>
          <p:nvPr/>
        </p:nvSpPr>
        <p:spPr>
          <a:xfrm>
            <a:off x="6949440" y="6510528"/>
            <a:ext cx="5242255" cy="347472"/>
          </a:xfrm>
          <a:prstGeom prst="rect">
            <a:avLst/>
          </a:prstGeom>
          <a:solidFill>
            <a:schemeClr val="tx1">
              <a:alpha val="70000"/>
            </a:schemeClr>
          </a:solidFill>
          <a:ln/>
        </p:spPr>
      </p:sp>
      <p:sp>
        <p:nvSpPr>
          <p:cNvPr id="27" name="Photo caption"/>
          <p:cNvSpPr txBox="1"/>
          <p:nvPr/>
        </p:nvSpPr>
        <p:spPr>
          <a:xfrm>
            <a:off x="7132320" y="6510528"/>
            <a:ext cx="4937760" cy="347472"/>
          </a:xfrm>
          <a:prstGeom prst="rect">
            <a:avLst/>
          </a:prstGeom>
          <a:noFill/>
          <a:ln/>
        </p:spPr>
        <p:txBody>
          <a:bodyPr wrap="square" lIns="0" tIns="0" rIns="0" bIns="0" rtlCol="0" anchor="ctr"/>
          <a:lstStyle/>
          <a:p>
            <a:pPr indent="0" marL="0">
              <a:buNone/>
            </a:pPr>
            <a:r>
              <a:rPr lang="en-US" sz="1000" dirty="0">
                <a:solidFill>
                  <a:schemeClr val="bg1"/>
                </a:solidFill>
              </a:rPr>
              <a:t>Photos d’illustration du format « bibliothèque vivante » · source à compléter</a:t>
            </a:r>
            <a:endParaRPr lang="en-US" sz="1000" dirty="0"/>
          </a:p>
        </p:txBody>
      </p:sp>
      <p:sp>
        <p:nvSpPr>
          <p:cNvPr id="28" name="Sources footer"/>
          <p:cNvSpPr txBox="1"/>
          <p:nvPr/>
        </p:nvSpPr>
        <p:spPr>
          <a:xfrm>
            <a:off x="548640" y="6446520"/>
            <a:ext cx="5943600" cy="256032"/>
          </a:xfrm>
          <a:prstGeom prst="rect">
            <a:avLst/>
          </a:prstGeom>
          <a:noFill/>
          <a:ln/>
        </p:spPr>
        <p:txBody>
          <a:bodyPr wrap="square" lIns="0" tIns="0" rIns="0" bIns="0" rtlCol="0" anchor="ctr"/>
          <a:lstStyle/>
          <a:p>
            <a:pPr indent="0" marL="0">
              <a:buNone/>
            </a:pPr>
            <a:r>
              <a:rPr lang="en-US" sz="1000" dirty="0">
                <a:solidFill>
                  <a:schemeClr val="tx2"/>
                </a:solidFill>
              </a:rPr>
              <a:t>Sources : Archives nationales · Sortiraparis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822960"/>
          </a:xfrm>
          <a:prstGeom prst="rect">
            <a:avLst/>
          </a:prstGeom>
          <a:noFill/>
          <a:ln/>
        </p:spPr>
        <p:txBody>
          <a:bodyPr wrap="square" lIns="0" tIns="0" rIns="0" bIns="0" rtlCol="0" anchor="ctr"/>
          <a:lstStyle/>
          <a:p>
            <a:pPr algn="l" indent="0" marL="0">
              <a:buNone/>
            </a:pPr>
            <a:r>
              <a:rPr lang="en-US" sz="3600" b="1" dirty="0">
                <a:solidFill>
                  <a:schemeClr val="bg1"/>
                </a:solidFill>
              </a:rPr>
              <a:t>Ce que je retiens</a:t>
            </a:r>
            <a:endParaRPr lang="en-US" sz="3600" dirty="0"/>
          </a:p>
        </p:txBody>
      </p:sp>
      <p:sp>
        <p:nvSpPr>
          <p:cNvPr id="3" name="Lesson card 01"/>
          <p:cNvSpPr/>
          <p:nvPr/>
        </p:nvSpPr>
        <p:spPr>
          <a:xfrm>
            <a:off x="640080" y="1645920"/>
            <a:ext cx="3520440" cy="2377440"/>
          </a:xfrm>
          <a:prstGeom prst="roundRect">
            <a:avLst>
              <a:gd name="adj" fmla="val 3846"/>
            </a:avLst>
          </a:prstGeom>
          <a:solidFill>
            <a:schemeClr val="accent4"/>
          </a:solidFill>
          <a:ln/>
        </p:spPr>
      </p:sp>
      <p:sp>
        <p:nvSpPr>
          <p:cNvPr id="4" name="Lesson number 01"/>
          <p:cNvSpPr txBox="1"/>
          <p:nvPr/>
        </p:nvSpPr>
        <p:spPr>
          <a:xfrm>
            <a:off x="960120" y="1874520"/>
            <a:ext cx="2834640" cy="502920"/>
          </a:xfrm>
          <a:prstGeom prst="rect">
            <a:avLst/>
          </a:prstGeom>
          <a:noFill/>
          <a:ln/>
        </p:spPr>
        <p:txBody>
          <a:bodyPr wrap="square" lIns="0" tIns="0" rIns="0" bIns="0" rtlCol="0" anchor="t"/>
          <a:lstStyle/>
          <a:p>
            <a:pPr indent="0" marL="0">
              <a:buNone/>
            </a:pPr>
            <a:r>
              <a:rPr lang="en-US" sz="3200" b="1" dirty="0">
                <a:solidFill>
                  <a:schemeClr val="accent2"/>
                </a:solidFill>
              </a:rPr>
              <a:t>01</a:t>
            </a:r>
            <a:endParaRPr lang="en-US" sz="3200" dirty="0"/>
          </a:p>
        </p:txBody>
      </p:sp>
      <p:sp>
        <p:nvSpPr>
          <p:cNvPr id="5" name="Lesson topic 01"/>
          <p:cNvSpPr txBox="1"/>
          <p:nvPr/>
        </p:nvSpPr>
        <p:spPr>
          <a:xfrm>
            <a:off x="960120" y="2450592"/>
            <a:ext cx="283464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Fujiko Nakaya</a:t>
            </a:r>
            <a:endParaRPr lang="en-US" sz="1200" dirty="0"/>
          </a:p>
        </p:txBody>
      </p:sp>
      <p:sp>
        <p:nvSpPr>
          <p:cNvPr id="6" name="Lesson text 01"/>
          <p:cNvSpPr txBox="1"/>
          <p:nvPr/>
        </p:nvSpPr>
        <p:spPr>
          <a:xfrm>
            <a:off x="960120" y="2788920"/>
            <a:ext cx="2926080" cy="1051560"/>
          </a:xfrm>
          <a:prstGeom prst="rect">
            <a:avLst/>
          </a:prstGeom>
          <a:noFill/>
          <a:ln/>
        </p:spPr>
        <p:txBody>
          <a:bodyPr wrap="square" lIns="0" tIns="0" rIns="0" bIns="0" rtlCol="0" anchor="t"/>
          <a:lstStyle/>
          <a:p>
            <a:pPr indent="0" marL="0">
              <a:buNone/>
            </a:pPr>
            <a:r>
              <a:rPr lang="en-US" sz="1800" b="1" dirty="0">
                <a:solidFill>
                  <a:schemeClr val="bg1"/>
                </a:solidFill>
              </a:rPr>
              <a:t>Un élément simple</a:t>
            </a:r>
            <a:endParaRPr lang="en-US" sz="1800" dirty="0"/>
          </a:p>
          <a:p>
            <a:pPr indent="0" marL="0">
              <a:buNone/>
            </a:pPr>
            <a:r>
              <a:rPr lang="en-US" sz="1800" b="1" dirty="0">
                <a:solidFill>
                  <a:schemeClr val="bg1"/>
                </a:solidFill>
              </a:rPr>
              <a:t>peut créer une</a:t>
            </a:r>
            <a:endParaRPr lang="en-US" sz="1800" dirty="0"/>
          </a:p>
          <a:p>
            <a:pPr indent="0" marL="0">
              <a:buNone/>
            </a:pPr>
            <a:r>
              <a:rPr lang="en-US" sz="1800" b="1" dirty="0">
                <a:solidFill>
                  <a:schemeClr val="bg1"/>
                </a:solidFill>
              </a:rPr>
              <a:t>émotion très forte.</a:t>
            </a:r>
            <a:endParaRPr lang="en-US" sz="1800" dirty="0"/>
          </a:p>
        </p:txBody>
      </p:sp>
      <p:sp>
        <p:nvSpPr>
          <p:cNvPr id="7" name="Lesson card 02"/>
          <p:cNvSpPr/>
          <p:nvPr/>
        </p:nvSpPr>
        <p:spPr>
          <a:xfrm>
            <a:off x="4343400" y="1645920"/>
            <a:ext cx="3520440" cy="2377440"/>
          </a:xfrm>
          <a:prstGeom prst="roundRect">
            <a:avLst>
              <a:gd name="adj" fmla="val 3846"/>
            </a:avLst>
          </a:prstGeom>
          <a:solidFill>
            <a:schemeClr val="accent4"/>
          </a:solidFill>
          <a:ln/>
        </p:spPr>
      </p:sp>
      <p:sp>
        <p:nvSpPr>
          <p:cNvPr id="8" name="Lesson number 02"/>
          <p:cNvSpPr txBox="1"/>
          <p:nvPr/>
        </p:nvSpPr>
        <p:spPr>
          <a:xfrm>
            <a:off x="4663440" y="1874520"/>
            <a:ext cx="2834640" cy="502920"/>
          </a:xfrm>
          <a:prstGeom prst="rect">
            <a:avLst/>
          </a:prstGeom>
          <a:noFill/>
          <a:ln/>
        </p:spPr>
        <p:txBody>
          <a:bodyPr wrap="square" lIns="0" tIns="0" rIns="0" bIns="0" rtlCol="0" anchor="t"/>
          <a:lstStyle/>
          <a:p>
            <a:pPr indent="0" marL="0">
              <a:buNone/>
            </a:pPr>
            <a:r>
              <a:rPr lang="en-US" sz="3200" b="1" dirty="0">
                <a:solidFill>
                  <a:schemeClr val="accent2"/>
                </a:solidFill>
              </a:rPr>
              <a:t>02</a:t>
            </a:r>
            <a:endParaRPr lang="en-US" sz="3200" dirty="0"/>
          </a:p>
        </p:txBody>
      </p:sp>
      <p:sp>
        <p:nvSpPr>
          <p:cNvPr id="9" name="Lesson topic 02"/>
          <p:cNvSpPr txBox="1"/>
          <p:nvPr/>
        </p:nvSpPr>
        <p:spPr>
          <a:xfrm>
            <a:off x="4663440" y="2450592"/>
            <a:ext cx="283464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Emotion Lab</a:t>
            </a:r>
            <a:endParaRPr lang="en-US" sz="1200" dirty="0"/>
          </a:p>
        </p:txBody>
      </p:sp>
      <p:sp>
        <p:nvSpPr>
          <p:cNvPr id="10" name="Lesson text 02"/>
          <p:cNvSpPr txBox="1"/>
          <p:nvPr/>
        </p:nvSpPr>
        <p:spPr>
          <a:xfrm>
            <a:off x="4663440" y="2788920"/>
            <a:ext cx="2926080" cy="1051560"/>
          </a:xfrm>
          <a:prstGeom prst="rect">
            <a:avLst/>
          </a:prstGeom>
          <a:noFill/>
          <a:ln/>
        </p:spPr>
        <p:txBody>
          <a:bodyPr wrap="square" lIns="0" tIns="0" rIns="0" bIns="0" rtlCol="0" anchor="t"/>
          <a:lstStyle/>
          <a:p>
            <a:pPr indent="0" marL="0">
              <a:buNone/>
            </a:pPr>
            <a:r>
              <a:rPr lang="en-US" sz="1800" b="1" dirty="0">
                <a:solidFill>
                  <a:schemeClr val="bg1"/>
                </a:solidFill>
              </a:rPr>
              <a:t>La technologie doit</a:t>
            </a:r>
            <a:endParaRPr lang="en-US" sz="1800" dirty="0"/>
          </a:p>
          <a:p>
            <a:pPr indent="0" marL="0">
              <a:buNone/>
            </a:pPr>
            <a:r>
              <a:rPr lang="en-US" sz="1800" b="1" dirty="0">
                <a:solidFill>
                  <a:schemeClr val="bg1"/>
                </a:solidFill>
              </a:rPr>
              <a:t>servir l’émotion,</a:t>
            </a:r>
            <a:endParaRPr lang="en-US" sz="1800" dirty="0"/>
          </a:p>
          <a:p>
            <a:pPr indent="0" marL="0">
              <a:buNone/>
            </a:pPr>
            <a:r>
              <a:rPr lang="en-US" sz="1800" b="1" dirty="0">
                <a:solidFill>
                  <a:schemeClr val="bg1"/>
                </a:solidFill>
              </a:rPr>
              <a:t>pas l’inverse.</a:t>
            </a:r>
            <a:endParaRPr lang="en-US" sz="1800" dirty="0"/>
          </a:p>
        </p:txBody>
      </p:sp>
      <p:sp>
        <p:nvSpPr>
          <p:cNvPr id="11" name="Lesson card 03"/>
          <p:cNvSpPr/>
          <p:nvPr/>
        </p:nvSpPr>
        <p:spPr>
          <a:xfrm>
            <a:off x="8046720" y="1645920"/>
            <a:ext cx="3520440" cy="2377440"/>
          </a:xfrm>
          <a:prstGeom prst="roundRect">
            <a:avLst>
              <a:gd name="adj" fmla="val 3846"/>
            </a:avLst>
          </a:prstGeom>
          <a:solidFill>
            <a:schemeClr val="accent4"/>
          </a:solidFill>
          <a:ln/>
        </p:spPr>
      </p:sp>
      <p:sp>
        <p:nvSpPr>
          <p:cNvPr id="12" name="Lesson number 03"/>
          <p:cNvSpPr txBox="1"/>
          <p:nvPr/>
        </p:nvSpPr>
        <p:spPr>
          <a:xfrm>
            <a:off x="8366760" y="1874520"/>
            <a:ext cx="2834640" cy="502920"/>
          </a:xfrm>
          <a:prstGeom prst="rect">
            <a:avLst/>
          </a:prstGeom>
          <a:noFill/>
          <a:ln/>
        </p:spPr>
        <p:txBody>
          <a:bodyPr wrap="square" lIns="0" tIns="0" rIns="0" bIns="0" rtlCol="0" anchor="t"/>
          <a:lstStyle/>
          <a:p>
            <a:pPr indent="0" marL="0">
              <a:buNone/>
            </a:pPr>
            <a:r>
              <a:rPr lang="en-US" sz="3200" b="1" dirty="0">
                <a:solidFill>
                  <a:schemeClr val="accent2"/>
                </a:solidFill>
              </a:rPr>
              <a:t>03</a:t>
            </a:r>
            <a:endParaRPr lang="en-US" sz="3200" dirty="0"/>
          </a:p>
        </p:txBody>
      </p:sp>
      <p:sp>
        <p:nvSpPr>
          <p:cNvPr id="13" name="Lesson topic 03"/>
          <p:cNvSpPr txBox="1"/>
          <p:nvPr/>
        </p:nvSpPr>
        <p:spPr>
          <a:xfrm>
            <a:off x="8366760" y="2450592"/>
            <a:ext cx="283464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Bibliothèque vivante</a:t>
            </a:r>
            <a:endParaRPr lang="en-US" sz="1200" dirty="0"/>
          </a:p>
        </p:txBody>
      </p:sp>
      <p:sp>
        <p:nvSpPr>
          <p:cNvPr id="14" name="Lesson text 03"/>
          <p:cNvSpPr txBox="1"/>
          <p:nvPr/>
        </p:nvSpPr>
        <p:spPr>
          <a:xfrm>
            <a:off x="8366760" y="2788920"/>
            <a:ext cx="2926080" cy="1051560"/>
          </a:xfrm>
          <a:prstGeom prst="rect">
            <a:avLst/>
          </a:prstGeom>
          <a:noFill/>
          <a:ln/>
        </p:spPr>
        <p:txBody>
          <a:bodyPr wrap="square" lIns="0" tIns="0" rIns="0" bIns="0" rtlCol="0" anchor="t"/>
          <a:lstStyle/>
          <a:p>
            <a:pPr indent="0" marL="0">
              <a:buNone/>
            </a:pPr>
            <a:r>
              <a:rPr lang="en-US" sz="1800" b="1" dirty="0">
                <a:solidFill>
                  <a:schemeClr val="bg1"/>
                </a:solidFill>
              </a:rPr>
              <a:t>Un moment en</a:t>
            </a:r>
            <a:endParaRPr lang="en-US" sz="1800" dirty="0"/>
          </a:p>
          <a:p>
            <a:pPr indent="0" marL="0">
              <a:buNone/>
            </a:pPr>
            <a:r>
              <a:rPr lang="en-US" sz="1800" b="1" dirty="0">
                <a:solidFill>
                  <a:schemeClr val="bg1"/>
                </a:solidFill>
              </a:rPr>
              <a:t>tête-à-tête peut être</a:t>
            </a:r>
            <a:endParaRPr lang="en-US" sz="1800" dirty="0"/>
          </a:p>
          <a:p>
            <a:pPr indent="0" marL="0">
              <a:buNone/>
            </a:pPr>
            <a:r>
              <a:rPr lang="en-US" sz="1800" b="1" dirty="0">
                <a:solidFill>
                  <a:schemeClr val="bg1"/>
                </a:solidFill>
              </a:rPr>
              <a:t>le plus mémorable.</a:t>
            </a:r>
            <a:endParaRPr lang="en-US" sz="1800" dirty="0"/>
          </a:p>
        </p:txBody>
      </p:sp>
      <p:pic>
        <p:nvPicPr>
          <p:cNvPr id="15" name="Quote icon" descr="preencoded.png">    </p:cNvPr>
          <p:cNvPicPr>
            <a:picLocks noChangeAspect="1"/>
          </p:cNvPicPr>
          <p:nvPr/>
        </p:nvPicPr>
        <p:blipFill>
          <a:blip r:embed="rId1"/>
          <a:stretch>
            <a:fillRect/>
          </a:stretch>
        </p:blipFill>
        <p:spPr>
          <a:xfrm>
            <a:off x="640080" y="4526280"/>
            <a:ext cx="457200" cy="457200"/>
          </a:xfrm>
          <a:prstGeom prst="rect">
            <a:avLst/>
          </a:prstGeom>
        </p:spPr>
      </p:pic>
      <p:sp>
        <p:nvSpPr>
          <p:cNvPr id="16" name="Course quote"/>
          <p:cNvSpPr txBox="1"/>
          <p:nvPr/>
        </p:nvSpPr>
        <p:spPr>
          <a:xfrm>
            <a:off x="1325880" y="4480560"/>
            <a:ext cx="10241280" cy="914400"/>
          </a:xfrm>
          <a:prstGeom prst="rect">
            <a:avLst/>
          </a:prstGeom>
          <a:noFill/>
          <a:ln/>
        </p:spPr>
        <p:txBody>
          <a:bodyPr wrap="square" lIns="0" tIns="0" rIns="0" bIns="0" rtlCol="0" anchor="t"/>
          <a:lstStyle/>
          <a:p>
            <a:pPr indent="0" marL="0">
              <a:buNone/>
            </a:pPr>
            <a:r>
              <a:rPr lang="en-US" sz="2000" i="1" dirty="0">
                <a:solidFill>
                  <a:schemeClr val="bg1"/>
                </a:solidFill>
              </a:rPr>
              <a:t>Les gens oublient ce que vous leur avez dit. […] Mais ils se souviennent toujours de ce qu’ils vivent, ressentent et retiennent.</a:t>
            </a:r>
            <a:endParaRPr lang="en-US" sz="2000" dirty="0"/>
          </a:p>
        </p:txBody>
      </p:sp>
      <p:sp>
        <p:nvSpPr>
          <p:cNvPr id="17" name="Quote attribution"/>
          <p:cNvSpPr txBox="1"/>
          <p:nvPr/>
        </p:nvSpPr>
        <p:spPr>
          <a:xfrm>
            <a:off x="1325880" y="5486400"/>
            <a:ext cx="10241280" cy="320040"/>
          </a:xfrm>
          <a:prstGeom prst="rect">
            <a:avLst/>
          </a:prstGeom>
          <a:noFill/>
          <a:ln/>
        </p:spPr>
        <p:txBody>
          <a:bodyPr wrap="square" lIns="0" tIns="0" rIns="0" bIns="0" rtlCol="0" anchor="t"/>
          <a:lstStyle/>
          <a:p>
            <a:pPr indent="0" marL="0">
              <a:buNone/>
            </a:pPr>
            <a:r>
              <a:rPr lang="en-US" sz="1200" dirty="0">
                <a:solidFill>
                  <a:schemeClr val="accent2"/>
                </a:solidFill>
              </a:rPr>
              <a:t>Cours « Innovation événementielle », Nicolas Olive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Sources</a:t>
            </a:r>
            <a:endParaRPr lang="en-US" sz="3400" dirty="0"/>
          </a:p>
        </p:txBody>
      </p:sp>
      <p:pic>
        <p:nvPicPr>
          <p:cNvPr id="3" name="Source photo 1" descr="/tmp/claude-0/-home-user-H-C-B-I/d655295d-9dfe-5866-b7ef-2a882ec2c7de/scratchpad/fitted/s1_top.jpg">    </p:cNvPr>
          <p:cNvPicPr>
            <a:picLocks noChangeAspect="1"/>
          </p:cNvPicPr>
          <p:nvPr/>
        </p:nvPicPr>
        <p:blipFill>
          <a:blip r:embed="rId1"/>
          <a:stretch>
            <a:fillRect/>
          </a:stretch>
        </p:blipFill>
        <p:spPr>
          <a:xfrm>
            <a:off x="548640" y="4069080"/>
            <a:ext cx="2432304" cy="1737360"/>
          </a:xfrm>
          <a:prstGeom prst="rect">
            <a:avLst/>
          </a:prstGeom>
        </p:spPr>
      </p:pic>
      <p:sp>
        <p:nvSpPr>
          <p:cNvPr id="4" name="Source photo caption 1"/>
          <p:cNvSpPr txBox="1"/>
          <p:nvPr/>
        </p:nvSpPr>
        <p:spPr>
          <a:xfrm>
            <a:off x="548640" y="5897880"/>
            <a:ext cx="3566160" cy="274320"/>
          </a:xfrm>
          <a:prstGeom prst="rect">
            <a:avLst/>
          </a:prstGeom>
          <a:noFill/>
          <a:ln/>
        </p:spPr>
        <p:txBody>
          <a:bodyPr wrap="square" lIns="0" tIns="0" rIns="0" bIns="0" rtlCol="0" anchor="t"/>
          <a:lstStyle/>
          <a:p>
            <a:pPr indent="0" marL="0">
              <a:buNone/>
            </a:pPr>
            <a:r>
              <a:rPr lang="en-US" sz="1000" dirty="0">
                <a:solidFill>
                  <a:schemeClr val="tx2"/>
                </a:solidFill>
              </a:rPr>
              <a:t>01 · Photo : source à compléter</a:t>
            </a:r>
            <a:endParaRPr lang="en-US" sz="1000" dirty="0"/>
          </a:p>
        </p:txBody>
      </p:sp>
      <p:pic>
        <p:nvPicPr>
          <p:cNvPr id="5" name="Source photo 2" descr="/tmp/claude-0/-home-user-H-C-B-I/d655295d-9dfe-5866-b7ef-2a882ec2c7de/scratchpad/fitted/s2_top.jpg">    </p:cNvPr>
          <p:cNvPicPr>
            <a:picLocks noChangeAspect="1"/>
          </p:cNvPicPr>
          <p:nvPr/>
        </p:nvPicPr>
        <p:blipFill>
          <a:blip r:embed="rId2"/>
          <a:stretch>
            <a:fillRect/>
          </a:stretch>
        </p:blipFill>
        <p:spPr>
          <a:xfrm>
            <a:off x="4297680" y="4069080"/>
            <a:ext cx="2432304" cy="1737360"/>
          </a:xfrm>
          <a:prstGeom prst="rect">
            <a:avLst/>
          </a:prstGeom>
        </p:spPr>
      </p:pic>
      <p:sp>
        <p:nvSpPr>
          <p:cNvPr id="6" name="Source photo caption 2"/>
          <p:cNvSpPr txBox="1"/>
          <p:nvPr/>
        </p:nvSpPr>
        <p:spPr>
          <a:xfrm>
            <a:off x="4297680" y="5897880"/>
            <a:ext cx="3566160" cy="274320"/>
          </a:xfrm>
          <a:prstGeom prst="rect">
            <a:avLst/>
          </a:prstGeom>
          <a:noFill/>
          <a:ln/>
        </p:spPr>
        <p:txBody>
          <a:bodyPr wrap="square" lIns="0" tIns="0" rIns="0" bIns="0" rtlCol="0" anchor="t"/>
          <a:lstStyle/>
          <a:p>
            <a:pPr indent="0" marL="0">
              <a:buNone/>
            </a:pPr>
            <a:r>
              <a:rPr lang="en-US" sz="1000" dirty="0">
                <a:solidFill>
                  <a:schemeClr val="tx2"/>
                </a:solidFill>
              </a:rPr>
              <a:t>02 · Photo : SK Telecom Newsroom</a:t>
            </a:r>
            <a:endParaRPr lang="en-US" sz="1000" dirty="0"/>
          </a:p>
        </p:txBody>
      </p:sp>
      <p:pic>
        <p:nvPicPr>
          <p:cNvPr id="7" name="Source photo 3" descr="/tmp/claude-0/-home-user-H-C-B-I/d655295d-9dfe-5866-b7ef-2a882ec2c7de/scratchpad/fitted/s3_top.jpg">    </p:cNvPr>
          <p:cNvPicPr>
            <a:picLocks noChangeAspect="1"/>
          </p:cNvPicPr>
          <p:nvPr/>
        </p:nvPicPr>
        <p:blipFill>
          <a:blip r:embed="rId3"/>
          <a:stretch>
            <a:fillRect/>
          </a:stretch>
        </p:blipFill>
        <p:spPr>
          <a:xfrm>
            <a:off x="8046720" y="4069080"/>
            <a:ext cx="2432304" cy="1737360"/>
          </a:xfrm>
          <a:prstGeom prst="rect">
            <a:avLst/>
          </a:prstGeom>
        </p:spPr>
      </p:pic>
      <p:sp>
        <p:nvSpPr>
          <p:cNvPr id="8" name="Source photo caption 3"/>
          <p:cNvSpPr txBox="1"/>
          <p:nvPr/>
        </p:nvSpPr>
        <p:spPr>
          <a:xfrm>
            <a:off x="8046720" y="5897880"/>
            <a:ext cx="3566160" cy="274320"/>
          </a:xfrm>
          <a:prstGeom prst="rect">
            <a:avLst/>
          </a:prstGeom>
          <a:noFill/>
          <a:ln/>
        </p:spPr>
        <p:txBody>
          <a:bodyPr wrap="square" lIns="0" tIns="0" rIns="0" bIns="0" rtlCol="0" anchor="t"/>
          <a:lstStyle/>
          <a:p>
            <a:pPr indent="0" marL="0">
              <a:buNone/>
            </a:pPr>
            <a:r>
              <a:rPr lang="en-US" sz="1000" dirty="0">
                <a:solidFill>
                  <a:schemeClr val="tx2"/>
                </a:solidFill>
              </a:rPr>
              <a:t>03 · Photo d’illustration : source à compléter</a:t>
            </a:r>
            <a:endParaRPr lang="en-US" sz="1000" dirty="0"/>
          </a:p>
        </p:txBody>
      </p:sp>
      <p:sp>
        <p:nvSpPr>
          <p:cNvPr id="9" name="Info icon circle"/>
          <p:cNvSpPr/>
          <p:nvPr/>
        </p:nvSpPr>
        <p:spPr>
          <a:xfrm>
            <a:off x="548640" y="1600200"/>
            <a:ext cx="420624" cy="420624"/>
          </a:xfrm>
          <a:prstGeom prst="ellipse">
            <a:avLst/>
          </a:prstGeom>
          <a:solidFill>
            <a:schemeClr val="accent1"/>
          </a:solidFill>
          <a:ln/>
        </p:spPr>
      </p:sp>
      <p:pic>
        <p:nvPicPr>
          <p:cNvPr id="10" name="Info icon" descr="preencoded.png">    </p:cNvPr>
          <p:cNvPicPr>
            <a:picLocks noChangeAspect="1"/>
          </p:cNvPicPr>
          <p:nvPr/>
        </p:nvPicPr>
        <p:blipFill>
          <a:blip r:embed="rId4"/>
          <a:stretch>
            <a:fillRect/>
          </a:stretch>
        </p:blipFill>
        <p:spPr>
          <a:xfrm>
            <a:off x="649224" y="1700784"/>
            <a:ext cx="219456" cy="219456"/>
          </a:xfrm>
          <a:prstGeom prst="rect">
            <a:avLst/>
          </a:prstGeom>
        </p:spPr>
      </p:pic>
      <p:sp>
        <p:nvSpPr>
          <p:cNvPr id="11" name="Info header"/>
          <p:cNvSpPr txBox="1"/>
          <p:nvPr/>
        </p:nvSpPr>
        <p:spPr>
          <a:xfrm>
            <a:off x="1143000" y="1600200"/>
            <a:ext cx="4572000" cy="420624"/>
          </a:xfrm>
          <a:prstGeom prst="rect">
            <a:avLst/>
          </a:prstGeom>
          <a:noFill/>
          <a:ln/>
        </p:spPr>
        <p:txBody>
          <a:bodyPr wrap="square" lIns="0" tIns="0" rIns="0" bIns="0" rtlCol="0" anchor="ctr"/>
          <a:lstStyle/>
          <a:p>
            <a:pPr indent="0" marL="0">
              <a:buNone/>
            </a:pPr>
            <a:r>
              <a:rPr lang="en-US" sz="2000" b="1" dirty="0">
                <a:solidFill>
                  <a:schemeClr val="tx1"/>
                </a:solidFill>
              </a:rPr>
              <a:t>Informations</a:t>
            </a:r>
            <a:endParaRPr lang="en-US" sz="2000" dirty="0"/>
          </a:p>
        </p:txBody>
      </p:sp>
      <p:sp>
        <p:nvSpPr>
          <p:cNvPr id="12" name="Info list"/>
          <p:cNvSpPr txBox="1"/>
          <p:nvPr/>
        </p:nvSpPr>
        <p:spPr>
          <a:xfrm>
            <a:off x="548640" y="2194560"/>
            <a:ext cx="5257800" cy="1737360"/>
          </a:xfrm>
          <a:prstGeom prst="rect">
            <a:avLst/>
          </a:prstGeom>
          <a:noFill/>
          <a:ln/>
        </p:spPr>
        <p:txBody>
          <a:bodyPr wrap="square" lIns="0" tIns="0" rIns="0" bIns="0" rtlCol="0" anchor="t"/>
          <a:lstStyle/>
          <a:p>
            <a:pPr marL="342900" indent="-342900">
              <a:buSzPct val="100000"/>
              <a:buChar char="•"/>
            </a:pPr>
            <a:r>
              <a:rPr lang="en-US" sz="1400" b="1" dirty="0">
                <a:solidFill>
                  <a:schemeClr val="tx1"/>
                </a:solidFill>
              </a:rPr>
              <a:t>Fujiko Nakaya : </a:t>
            </a:r>
            <a:pPr indent="0" marL="0">
              <a:spcAft>
                <a:spcPts val="800"/>
              </a:spcAft>
              <a:buNone/>
            </a:pPr>
            <a:r>
              <a:rPr lang="en-US" sz="1400" dirty="0">
                <a:solidFill>
                  <a:schemeClr val="tx2"/>
                </a:solidFill>
              </a:rPr>
              <a:t>pinaultcollection.com · sortiraparis.com · france24.com</a:t>
            </a:r>
            <a:endParaRPr lang="en-US" sz="1400" dirty="0"/>
          </a:p>
          <a:p>
            <a:pPr marL="342900" indent="-342900">
              <a:buSzPct val="100000"/>
              <a:buChar char="•"/>
            </a:pPr>
            <a:r>
              <a:rPr lang="en-US" sz="1400" b="1" dirty="0">
                <a:solidFill>
                  <a:schemeClr val="tx1"/>
                </a:solidFill>
              </a:rPr>
              <a:t>Emotion Lab : </a:t>
            </a:r>
            <a:pPr indent="0" marL="0">
              <a:spcAft>
                <a:spcPts val="800"/>
              </a:spcAft>
              <a:buNone/>
            </a:pPr>
            <a:r>
              <a:rPr lang="en-US" sz="1400" dirty="0">
                <a:solidFill>
                  <a:schemeClr val="tx2"/>
                </a:solidFill>
              </a:rPr>
              <a:t>news.sktelecom.com · zdnet.co.kr</a:t>
            </a:r>
            <a:endParaRPr lang="en-US" sz="1400" dirty="0"/>
          </a:p>
          <a:p>
            <a:pPr marL="342900" indent="-342900">
              <a:buSzPct val="100000"/>
              <a:buChar char="•"/>
            </a:pPr>
            <a:r>
              <a:rPr lang="en-US" sz="1400" b="1" dirty="0">
                <a:solidFill>
                  <a:schemeClr val="tx1"/>
                </a:solidFill>
              </a:rPr>
              <a:t>Bibliothèque vivante : </a:t>
            </a:r>
            <a:pPr indent="0" marL="0">
              <a:spcAft>
                <a:spcPts val="800"/>
              </a:spcAft>
              <a:buNone/>
            </a:pPr>
            <a:r>
              <a:rPr lang="en-US" sz="1400" dirty="0">
                <a:solidFill>
                  <a:schemeClr val="tx2"/>
                </a:solidFill>
              </a:rPr>
              <a:t>archives-nationales.culture.gouv.fr · sortiraparis.com</a:t>
            </a:r>
            <a:endParaRPr lang="en-US" sz="1400" dirty="0"/>
          </a:p>
        </p:txBody>
      </p:sp>
      <p:sp>
        <p:nvSpPr>
          <p:cNvPr id="13" name="Photos icon circle"/>
          <p:cNvSpPr/>
          <p:nvPr/>
        </p:nvSpPr>
        <p:spPr>
          <a:xfrm>
            <a:off x="6355080" y="1600200"/>
            <a:ext cx="420624" cy="420624"/>
          </a:xfrm>
          <a:prstGeom prst="ellipse">
            <a:avLst/>
          </a:prstGeom>
          <a:solidFill>
            <a:schemeClr val="accent1"/>
          </a:solidFill>
          <a:ln/>
        </p:spPr>
      </p:sp>
      <p:pic>
        <p:nvPicPr>
          <p:cNvPr id="14" name="Photos icon" descr="preencoded.png">    </p:cNvPr>
          <p:cNvPicPr>
            <a:picLocks noChangeAspect="1"/>
          </p:cNvPicPr>
          <p:nvPr/>
        </p:nvPicPr>
        <p:blipFill>
          <a:blip r:embed="rId5"/>
          <a:stretch>
            <a:fillRect/>
          </a:stretch>
        </p:blipFill>
        <p:spPr>
          <a:xfrm>
            <a:off x="6455664" y="1700784"/>
            <a:ext cx="219456" cy="219456"/>
          </a:xfrm>
          <a:prstGeom prst="rect">
            <a:avLst/>
          </a:prstGeom>
        </p:spPr>
      </p:pic>
      <p:sp>
        <p:nvSpPr>
          <p:cNvPr id="15" name="Photos header"/>
          <p:cNvSpPr txBox="1"/>
          <p:nvPr/>
        </p:nvSpPr>
        <p:spPr>
          <a:xfrm>
            <a:off x="6949440" y="1600200"/>
            <a:ext cx="4572000" cy="420624"/>
          </a:xfrm>
          <a:prstGeom prst="rect">
            <a:avLst/>
          </a:prstGeom>
          <a:noFill/>
          <a:ln/>
        </p:spPr>
        <p:txBody>
          <a:bodyPr wrap="square" lIns="0" tIns="0" rIns="0" bIns="0" rtlCol="0" anchor="ctr"/>
          <a:lstStyle/>
          <a:p>
            <a:pPr indent="0" marL="0">
              <a:buNone/>
            </a:pPr>
            <a:r>
              <a:rPr lang="en-US" sz="2000" b="1" dirty="0">
                <a:solidFill>
                  <a:schemeClr val="tx1"/>
                </a:solidFill>
              </a:rPr>
              <a:t>Photos</a:t>
            </a:r>
            <a:endParaRPr lang="en-US" sz="2000" dirty="0"/>
          </a:p>
        </p:txBody>
      </p:sp>
      <p:sp>
        <p:nvSpPr>
          <p:cNvPr id="16" name="Photos list"/>
          <p:cNvSpPr txBox="1"/>
          <p:nvPr/>
        </p:nvSpPr>
        <p:spPr>
          <a:xfrm>
            <a:off x="6355080" y="2194560"/>
            <a:ext cx="5257800" cy="1737360"/>
          </a:xfrm>
          <a:prstGeom prst="rect">
            <a:avLst/>
          </a:prstGeom>
          <a:noFill/>
          <a:ln/>
        </p:spPr>
        <p:txBody>
          <a:bodyPr wrap="square" lIns="0" tIns="0" rIns="0" bIns="0" rtlCol="0" anchor="t"/>
          <a:lstStyle/>
          <a:p>
            <a:pPr marL="342900" indent="-342900">
              <a:buSzPct val="100000"/>
              <a:buChar char="•"/>
            </a:pPr>
            <a:r>
              <a:rPr lang="en-US" sz="1400" b="1" dirty="0">
                <a:solidFill>
                  <a:schemeClr val="tx1"/>
                </a:solidFill>
              </a:rPr>
              <a:t>Un nuage dans un musée : </a:t>
            </a:r>
            <a:pPr indent="0" marL="0">
              <a:spcAft>
                <a:spcPts val="800"/>
              </a:spcAft>
              <a:buNone/>
            </a:pPr>
            <a:r>
              <a:rPr lang="en-US" sz="1400" dirty="0">
                <a:solidFill>
                  <a:schemeClr val="tx2"/>
                </a:solidFill>
              </a:rPr>
              <a:t>Cloud #07156, Fujiko Nakaya (2026), Bourse de Commerce – Pinault Collection. Source des photos : à compléter</a:t>
            </a:r>
            <a:endParaRPr lang="en-US" sz="1400" dirty="0"/>
          </a:p>
          <a:p>
            <a:pPr marL="342900" indent="-342900">
              <a:buSzPct val="100000"/>
              <a:buChar char="•"/>
            </a:pPr>
            <a:r>
              <a:rPr lang="en-US" sz="1400" b="1" dirty="0">
                <a:solidFill>
                  <a:schemeClr val="tx1"/>
                </a:solidFill>
              </a:rPr>
              <a:t>Emotion Lab : </a:t>
            </a:r>
            <a:pPr indent="0" marL="0">
              <a:spcAft>
                <a:spcPts val="800"/>
              </a:spcAft>
              <a:buNone/>
            </a:pPr>
            <a:r>
              <a:rPr lang="en-US" sz="1400" dirty="0">
                <a:solidFill>
                  <a:schemeClr val="tx2"/>
                </a:solidFill>
              </a:rPr>
              <a:t>SK Telecom Newsroom</a:t>
            </a:r>
            <a:endParaRPr lang="en-US" sz="1400" dirty="0"/>
          </a:p>
          <a:p>
            <a:pPr marL="342900" indent="-342900">
              <a:buSzPct val="100000"/>
              <a:buChar char="•"/>
            </a:pPr>
            <a:r>
              <a:rPr lang="en-US" sz="1400" b="1" dirty="0">
                <a:solidFill>
                  <a:schemeClr val="tx1"/>
                </a:solidFill>
              </a:rPr>
              <a:t>Bibliothèque vivante : </a:t>
            </a:r>
            <a:pPr indent="0" marL="0">
              <a:spcAft>
                <a:spcPts val="800"/>
              </a:spcAft>
              <a:buNone/>
            </a:pPr>
            <a:r>
              <a:rPr lang="en-US" sz="1400" dirty="0">
                <a:solidFill>
                  <a:schemeClr val="tx2"/>
                </a:solidFill>
              </a:rPr>
              <a:t>photos d’illustration du format « bibliothèque vivante ». Source : à compléter</a:t>
            </a:r>
            <a:endParaRPr lang="en-US" sz="1400" dirty="0"/>
          </a:p>
        </p:txBody>
      </p:sp>
    </p:spTree>
  </p:cSld>
  <p:clrMapOvr>
    <a:masterClrMapping/>
  </p:clrMapOvr>
</p:sld>
</file>

<file path=ppt/theme/theme1.xml><?xml version="1.0" encoding="utf-8"?>
<a:theme xmlns:a="http://schemas.openxmlformats.org/drawingml/2006/main" name="Pepites Radar">
  <a:themeElements>
    <a:clrScheme name="Pepites Radar">
      <a:dk1>
        <a:srgbClr val="1B2B34"/>
      </a:dk1>
      <a:lt1>
        <a:srgbClr val="FFFFFF"/>
      </a:lt1>
      <a:dk2>
        <a:srgbClr val="4A5A62"/>
      </a:dk2>
      <a:lt2>
        <a:srgbClr val="EAF5F4"/>
      </a:lt2>
      <a:accent1>
        <a:srgbClr val="0E8C88"/>
      </a:accent1>
      <a:accent2>
        <a:srgbClr val="7FCFC8"/>
      </a:accent2>
      <a:accent3>
        <a:srgbClr val="F2A541"/>
      </a:accent3>
      <a:accent4>
        <a:srgbClr val="2E3F48"/>
      </a:accent4>
      <a:accent5>
        <a:srgbClr val="B9C4C9"/>
      </a:accent5>
      <a:accent6>
        <a:srgbClr val="D94F4F"/>
      </a:accent6>
      <a:hlink>
        <a:srgbClr val="0E8C88"/>
      </a:hlink>
      <a:folHlink>
        <a:srgbClr val="4A5A62"/>
      </a:folHlink>
    </a:clrScheme>
    <a:fontScheme name="Pepites Radar">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Pépites radar – 3 innovations</dc:title>
  <dc:subject>PptxGenJS Presentation</dc:subject>
  <dc:creator>PptxGenJS</dc:creator>
  <cp:lastModifiedBy>PptxGenJS</cp:lastModifiedBy>
  <cp:revision>1</cp:revision>
  <dcterms:created xsi:type="dcterms:W3CDTF">2026-10-14T11:17:51Z</dcterms:created>
  <dcterms:modified xsi:type="dcterms:W3CDTF">2026-10-14T11:17:51Z</dcterms:modified>
</cp:coreProperties>
</file>