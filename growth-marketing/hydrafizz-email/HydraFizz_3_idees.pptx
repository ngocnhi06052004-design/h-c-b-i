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BÌA = ẢNH CHÈN VÀO EMAIL. 1) Thay khung 'VOTRE PHOTO ICI' bằng ảnh bạn cầm tuýp HydraFizz (kéo ảnh vào, Position &gt; Đưa ra sau, rồi xoá chữ trong khung). 2) Mẩu giấy 'Monsieur Dahan, 15 min ?' có thể giữ, hoặc xoá nếu trong ảnh bạn đã cầm tờ giấy viết tay thật. 3) Xuất riêng slide này: Chia sẻ &gt; Tải xuống &gt; PNG &gt; chọn trang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1 (sự kiện) – tận dụng kinh nghiệm tổ chức sự kiện của bạn. Có thể thay ví dụ địa điểm (courses urbaines, salles de sport, campus) bằng sự kiện cụ thể bạn biết ở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2 (nội dung video) – dựa trên kinh nghiệm Hanoi TV + CapCut. Mẹo: nếu kịp, quay thật 1 video mẫu 30–45 giây 'Mon épreuve du jour' và dùng cho email 2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3 (truyền thông nội bộ) – nối tiếp chiến dịch 'Life is a marathon' (diễn viên là nhân viên UPSA ở Agen). Hãy xem lại chiến dịch trước khi gửi để chắc chắn mô tả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kết: CTA phải trùng ngày với email (jeudi 22 / vendredi 23 octobre). QR code dẫn tới portfolio Wix của bạn – đã tạo sẵn, hãy thử quét bằng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5B"/>
        </a:solidFill>
      </p:bgPr>
    </p:bg>
    <p:spTree>
      <p:nvGrpSpPr>
        <p:cNvPr id="1" name=""/>
        <p:cNvGrpSpPr/>
        <p:nvPr/>
      </p:nvGrpSpPr>
      <p:grpSpPr>
        <a:xfrm>
          <a:off x="0" y="0"/>
          <a:ext cx="0" cy="0"/>
          <a:chOff x="0" y="0"/>
          <a:chExt cx="0" cy="0"/>
        </a:xfrm>
      </p:grpSpPr>
      <p:sp>
        <p:nvSpPr>
          <p:cNvPr id="2" name="Bulle A"/>
          <p:cNvSpPr/>
          <p:nvPr/>
        </p:nvSpPr>
        <p:spPr>
          <a:xfrm>
            <a:off x="4526280" y="274320"/>
            <a:ext cx="411480" cy="411480"/>
          </a:xfrm>
          <a:prstGeom prst="ellipse">
            <a:avLst/>
          </a:prstGeom>
          <a:solidFill>
            <a:srgbClr val="FFFFFF">
              <a:alpha val="10000"/>
            </a:srgbClr>
          </a:solidFill>
          <a:ln/>
        </p:spPr>
      </p:sp>
      <p:sp>
        <p:nvSpPr>
          <p:cNvPr id="3" name="Bulle B"/>
          <p:cNvSpPr/>
          <p:nvPr/>
        </p:nvSpPr>
        <p:spPr>
          <a:xfrm>
            <a:off x="4937760" y="777240"/>
            <a:ext cx="164592" cy="164592"/>
          </a:xfrm>
          <a:prstGeom prst="ellipse">
            <a:avLst/>
          </a:prstGeom>
          <a:solidFill>
            <a:srgbClr val="F7931E"/>
          </a:solidFill>
          <a:ln/>
        </p:spPr>
      </p:sp>
      <p:sp>
        <p:nvSpPr>
          <p:cNvPr id="4" name="Bulle C"/>
          <p:cNvSpPr/>
          <p:nvPr/>
        </p:nvSpPr>
        <p:spPr>
          <a:xfrm>
            <a:off x="4754880" y="3063240"/>
            <a:ext cx="457200" cy="457200"/>
          </a:xfrm>
          <a:prstGeom prst="ellipse">
            <a:avLst/>
          </a:prstGeom>
          <a:solidFill>
            <a:srgbClr val="FFFFFF">
              <a:alpha val="10000"/>
            </a:srgbClr>
          </a:solidFill>
          <a:ln/>
        </p:spPr>
      </p:sp>
      <p:sp>
        <p:nvSpPr>
          <p:cNvPr id="5" name="Bulle D"/>
          <p:cNvSpPr/>
          <p:nvPr/>
        </p:nvSpPr>
        <p:spPr>
          <a:xfrm>
            <a:off x="5074920" y="3657600"/>
            <a:ext cx="201168" cy="201168"/>
          </a:xfrm>
          <a:prstGeom prst="ellipse">
            <a:avLst/>
          </a:prstGeom>
          <a:solidFill>
            <a:srgbClr val="FFFFFF">
              <a:alpha val="15000"/>
            </a:srgbClr>
          </a:solidFill>
          <a:ln/>
        </p:spPr>
      </p:sp>
      <p:sp>
        <p:nvSpPr>
          <p:cNvPr id="6" name="Surtitre"/>
          <p:cNvSpPr txBox="1"/>
          <p:nvPr/>
        </p:nvSpPr>
        <p:spPr>
          <a:xfrm>
            <a:off x="548640" y="548640"/>
            <a:ext cx="4114800" cy="274320"/>
          </a:xfrm>
          <a:prstGeom prst="rect">
            <a:avLst/>
          </a:prstGeom>
          <a:noFill/>
          <a:ln/>
        </p:spPr>
        <p:txBody>
          <a:bodyPr wrap="square" lIns="0" tIns="0" rIns="0" bIns="0" rtlCol="0" anchor="ctr"/>
          <a:lstStyle/>
          <a:p>
            <a:pPr indent="0" marL="0">
              <a:buNone/>
            </a:pPr>
            <a:r>
              <a:rPr lang="en-US" sz="1100" b="1" spc="200" kern="0" dirty="0">
                <a:solidFill>
                  <a:srgbClr val="F7931E"/>
                </a:solidFill>
                <a:latin typeface="Montserrat" pitchFamily="34" charset="0"/>
                <a:ea typeface="Montserrat" pitchFamily="34" charset="-122"/>
                <a:cs typeface="Montserrat" pitchFamily="34" charset="-120"/>
              </a:rPr>
              <a:t>PROPOSITION  ·  OCTOBRE 2026</a:t>
            </a:r>
            <a:endParaRPr lang="en-US" sz="1100" dirty="0"/>
          </a:p>
        </p:txBody>
      </p:sp>
      <p:sp>
        <p:nvSpPr>
          <p:cNvPr id="7" name="Titre couverture"/>
          <p:cNvSpPr txBox="1"/>
          <p:nvPr/>
        </p:nvSpPr>
        <p:spPr>
          <a:xfrm>
            <a:off x="548640" y="914400"/>
            <a:ext cx="4754880" cy="178308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Montserrat" pitchFamily="34" charset="0"/>
                <a:ea typeface="Montserrat" pitchFamily="34" charset="-122"/>
                <a:cs typeface="Montserrat" pitchFamily="34" charset="-120"/>
              </a:rPr>
              <a:t>Monsieur Dahan,</a:t>
            </a:r>
            <a:endParaRPr lang="en-US" sz="3400" dirty="0"/>
          </a:p>
          <a:p>
            <a:pPr indent="0" marL="0">
              <a:lnSpc>
                <a:spcPct val="95000"/>
              </a:lnSpc>
              <a:buNone/>
            </a:pPr>
            <a:r>
              <a:rPr lang="en-US" sz="3400" b="1" dirty="0">
                <a:solidFill>
                  <a:srgbClr val="FFFFFF"/>
                </a:solidFill>
                <a:latin typeface="Montserrat" pitchFamily="34" charset="0"/>
                <a:ea typeface="Montserrat" pitchFamily="34" charset="-122"/>
                <a:cs typeface="Montserrat" pitchFamily="34" charset="-120"/>
              </a:rPr>
              <a:t>j'ai 3 idées pour</a:t>
            </a:r>
            <a:endParaRPr lang="en-US" sz="3400" dirty="0"/>
          </a:p>
          <a:p>
            <a:pPr indent="0" marL="0">
              <a:lnSpc>
                <a:spcPct val="95000"/>
              </a:lnSpc>
              <a:buNone/>
            </a:pPr>
            <a:r>
              <a:rPr lang="en-US" sz="3400" b="1" dirty="0">
                <a:solidFill>
                  <a:srgbClr val="F7931E"/>
                </a:solidFill>
                <a:latin typeface="Montserrat" pitchFamily="34" charset="0"/>
                <a:ea typeface="Montserrat" pitchFamily="34" charset="-122"/>
                <a:cs typeface="Montserrat" pitchFamily="34" charset="-120"/>
              </a:rPr>
              <a:t>HydraFizz</a:t>
            </a:r>
            <a:endParaRPr lang="en-US" sz="3400" dirty="0"/>
          </a:p>
        </p:txBody>
      </p:sp>
      <p:sp>
        <p:nvSpPr>
          <p:cNvPr id="8" name="Sous-titre couverture"/>
          <p:cNvSpPr txBox="1"/>
          <p:nvPr/>
        </p:nvSpPr>
        <p:spPr>
          <a:xfrm>
            <a:off x="548640" y="2743200"/>
            <a:ext cx="4572000" cy="548640"/>
          </a:xfrm>
          <a:prstGeom prst="rect">
            <a:avLst/>
          </a:prstGeom>
          <a:noFill/>
          <a:ln/>
        </p:spPr>
        <p:txBody>
          <a:bodyPr wrap="square" lIns="0" tIns="0" rIns="0" bIns="0" rtlCol="0" anchor="t"/>
          <a:lstStyle/>
          <a:p>
            <a:pPr indent="0" marL="0">
              <a:buNone/>
            </a:pPr>
            <a:r>
              <a:rPr lang="en-US" sz="1400" dirty="0">
                <a:solidFill>
                  <a:srgbClr val="CADCFC"/>
                </a:solidFill>
                <a:latin typeface="Montserrat" pitchFamily="34" charset="0"/>
                <a:ea typeface="Montserrat" pitchFamily="34" charset="-122"/>
                <a:cs typeface="Montserrat" pitchFamily="34" charset="-120"/>
              </a:rPr>
              <a:t>Pour les athlètes du quotidien… et pour vous assister au quotidien.</a:t>
            </a:r>
            <a:endParaRPr lang="en-US" sz="1400" dirty="0"/>
          </a:p>
        </p:txBody>
      </p:sp>
      <p:sp>
        <p:nvSpPr>
          <p:cNvPr id="9" name="Bouton fond"/>
          <p:cNvSpPr/>
          <p:nvPr/>
        </p:nvSpPr>
        <p:spPr>
          <a:xfrm>
            <a:off x="548640" y="3520440"/>
            <a:ext cx="2788920" cy="475488"/>
          </a:xfrm>
          <a:prstGeom prst="roundRect">
            <a:avLst>
              <a:gd name="adj" fmla="val 50000"/>
            </a:avLst>
          </a:prstGeom>
          <a:solidFill>
            <a:srgbClr val="F7931E"/>
          </a:solidFill>
          <a:ln/>
        </p:spPr>
      </p:sp>
      <p:pic>
        <p:nvPicPr>
          <p:cNvPr id="10" name="Bouton icône lecture" descr="preencoded.png">    </p:cNvPr>
          <p:cNvPicPr>
            <a:picLocks noChangeAspect="1"/>
          </p:cNvPicPr>
          <p:nvPr/>
        </p:nvPicPr>
        <p:blipFill>
          <a:blip r:embed="rId1"/>
          <a:stretch>
            <a:fillRect/>
          </a:stretch>
        </p:blipFill>
        <p:spPr>
          <a:xfrm>
            <a:off x="777240" y="3657600"/>
            <a:ext cx="201168" cy="201168"/>
          </a:xfrm>
          <a:prstGeom prst="rect">
            <a:avLst/>
          </a:prstGeom>
        </p:spPr>
      </p:pic>
      <p:sp>
        <p:nvSpPr>
          <p:cNvPr id="11" name="Bouton texte"/>
          <p:cNvSpPr txBox="1"/>
          <p:nvPr/>
        </p:nvSpPr>
        <p:spPr>
          <a:xfrm>
            <a:off x="1097280" y="3520440"/>
            <a:ext cx="2148840" cy="475488"/>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Découvrir les 5 slides</a:t>
            </a:r>
            <a:endParaRPr lang="en-US" sz="1400" dirty="0"/>
          </a:p>
        </p:txBody>
      </p:sp>
      <p:sp>
        <p:nvSpPr>
          <p:cNvPr id="12" name="Signature"/>
          <p:cNvSpPr txBox="1"/>
          <p:nvPr/>
        </p:nvSpPr>
        <p:spPr>
          <a:xfrm>
            <a:off x="548640" y="4434840"/>
            <a:ext cx="4572000" cy="274320"/>
          </a:xfrm>
          <a:prstGeom prst="rect">
            <a:avLst/>
          </a:prstGeom>
          <a:noFill/>
          <a:ln/>
        </p:spPr>
        <p:txBody>
          <a:bodyPr wrap="square" lIns="0" tIns="0" rIns="0" bIns="0" rtlCol="0" anchor="ctr"/>
          <a:lstStyle/>
          <a:p>
            <a:pPr indent="0" marL="0">
              <a:buNone/>
            </a:pPr>
            <a:r>
              <a:rPr lang="en-US" sz="1100" dirty="0">
                <a:solidFill>
                  <a:srgbClr val="CADCFC"/>
                </a:solidFill>
                <a:latin typeface="Montserrat" pitchFamily="34" charset="0"/>
                <a:ea typeface="Montserrat" pitchFamily="34" charset="-122"/>
                <a:cs typeface="Montserrat" pitchFamily="34" charset="-120"/>
              </a:rPr>
              <a:t>Ngoc Nhi LUU  ·  Master Communication, EFAP Paris</a:t>
            </a:r>
            <a:endParaRPr lang="en-US" sz="1100" dirty="0"/>
          </a:p>
        </p:txBody>
      </p:sp>
      <p:sp>
        <p:nvSpPr>
          <p:cNvPr id="13" name="Cadre photo (à remplacer)"/>
          <p:cNvSpPr/>
          <p:nvPr/>
        </p:nvSpPr>
        <p:spPr>
          <a:xfrm>
            <a:off x="5577840" y="457200"/>
            <a:ext cx="3017520" cy="3977640"/>
          </a:xfrm>
          <a:prstGeom prst="roundRect">
            <a:avLst>
              <a:gd name="adj" fmla="val 6061"/>
            </a:avLst>
          </a:prstGeom>
          <a:solidFill>
            <a:srgbClr val="FFFFFF">
              <a:alpha val="10000"/>
            </a:srgbClr>
          </a:solidFill>
          <a:ln w="19050">
            <a:solidFill>
              <a:srgbClr val="FFFFFF"/>
            </a:solidFill>
            <a:prstDash val="dash"/>
          </a:ln>
        </p:spPr>
      </p:sp>
      <p:pic>
        <p:nvPicPr>
          <p:cNvPr id="14" name="Icône photo" descr="preencoded.png">    </p:cNvPr>
          <p:cNvPicPr>
            <a:picLocks noChangeAspect="1"/>
          </p:cNvPicPr>
          <p:nvPr/>
        </p:nvPicPr>
        <p:blipFill>
          <a:blip r:embed="rId2"/>
          <a:stretch>
            <a:fillRect/>
          </a:stretch>
        </p:blipFill>
        <p:spPr>
          <a:xfrm>
            <a:off x="6830568" y="1325880"/>
            <a:ext cx="512064" cy="512064"/>
          </a:xfrm>
          <a:prstGeom prst="rect">
            <a:avLst/>
          </a:prstGeom>
        </p:spPr>
      </p:pic>
      <p:sp>
        <p:nvSpPr>
          <p:cNvPr id="15" name="Texte cadre photo (à supprimer)"/>
          <p:cNvSpPr txBox="1"/>
          <p:nvPr/>
        </p:nvSpPr>
        <p:spPr>
          <a:xfrm>
            <a:off x="5806440" y="1965960"/>
            <a:ext cx="2560320" cy="731520"/>
          </a:xfrm>
          <a:prstGeom prst="rect">
            <a:avLst/>
          </a:prstGeom>
          <a:noFill/>
          <a:ln/>
        </p:spPr>
        <p:txBody>
          <a:bodyPr wrap="square" lIns="0" tIns="0" rIns="0" bIns="0" rtlCol="0" anchor="t"/>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VOTRE PHOTO ICI</a:t>
            </a:r>
            <a:endParaRPr lang="en-US" sz="1300" dirty="0"/>
          </a:p>
          <a:p>
            <a:pPr algn="ctr" indent="0" marL="0">
              <a:buNone/>
            </a:pPr>
            <a:r>
              <a:rPr lang="en-US" sz="1100" dirty="0">
                <a:solidFill>
                  <a:srgbClr val="FFFFFF"/>
                </a:solidFill>
                <a:latin typeface="Montserrat" pitchFamily="34" charset="0"/>
                <a:ea typeface="Montserrat" pitchFamily="34" charset="-122"/>
                <a:cs typeface="Montserrat" pitchFamily="34" charset="-120"/>
              </a:rPr>
              <a:t>Vous, un tube HydraFizz à la main</a:t>
            </a:r>
            <a:endParaRPr lang="en-US" sz="1300" dirty="0"/>
          </a:p>
        </p:txBody>
      </p:sp>
      <p:sp>
        <p:nvSpPr>
          <p:cNvPr id="16" name="Note manuscrite fond"/>
          <p:cNvSpPr/>
          <p:nvPr/>
        </p:nvSpPr>
        <p:spPr>
          <a:xfrm rot="-300000">
            <a:off x="5989320" y="3611880"/>
            <a:ext cx="2286000" cy="777240"/>
          </a:xfrm>
          <a:prstGeom prst="rect">
            <a:avLst/>
          </a:prstGeom>
          <a:solidFill>
            <a:srgbClr val="FFFFFF"/>
          </a:solidFill>
          <a:ln/>
          <a:effectLst>
            <a:outerShdw sx="100000" sy="100000" kx="0" ky="0" algn="bl" rotWithShape="0" blurRad="76200" dist="38100" dir="5400000">
              <a:srgbClr val="000000">
                <a:alpha val="35000"/>
              </a:srgbClr>
            </a:outerShdw>
          </a:effectLst>
        </p:spPr>
      </p:sp>
      <p:sp>
        <p:nvSpPr>
          <p:cNvPr id="17" name="Note manuscrite"/>
          <p:cNvSpPr txBox="1"/>
          <p:nvPr/>
        </p:nvSpPr>
        <p:spPr>
          <a:xfrm rot="-300000">
            <a:off x="5989320" y="3611880"/>
            <a:ext cx="2286000" cy="777240"/>
          </a:xfrm>
          <a:prstGeom prst="rect">
            <a:avLst/>
          </a:prstGeom>
          <a:noFill/>
          <a:ln/>
        </p:spPr>
        <p:txBody>
          <a:bodyPr wrap="square" lIns="0" tIns="0" rIns="0" bIns="0" rtlCol="0" anchor="ctr"/>
          <a:lstStyle/>
          <a:p>
            <a:pPr algn="ctr" indent="0" marL="0">
              <a:lnSpc>
                <a:spcPct val="85000"/>
              </a:lnSpc>
              <a:buNone/>
            </a:pPr>
            <a:r>
              <a:rPr lang="en-US" sz="2200" b="1" dirty="0">
                <a:solidFill>
                  <a:srgbClr val="0B2D5B"/>
                </a:solidFill>
                <a:latin typeface="Caveat" pitchFamily="34" charset="0"/>
                <a:ea typeface="Caveat" pitchFamily="34" charset="-122"/>
                <a:cs typeface="Caveat" pitchFamily="34" charset="-120"/>
              </a:rPr>
              <a:t>Monsieur Dahan,</a:t>
            </a:r>
            <a:endParaRPr lang="en-US" sz="2200" dirty="0"/>
          </a:p>
          <a:p>
            <a:pPr algn="ctr" indent="0" marL="0">
              <a:lnSpc>
                <a:spcPct val="85000"/>
              </a:lnSpc>
              <a:buNone/>
            </a:pPr>
            <a:r>
              <a:rPr lang="en-US" sz="2200" b="1" dirty="0">
                <a:solidFill>
                  <a:srgbClr val="0B2D5B"/>
                </a:solidFill>
                <a:latin typeface="Caveat" pitchFamily="34" charset="0"/>
                <a:ea typeface="Caveat" pitchFamily="34" charset="-122"/>
                <a:cs typeface="Caveat" pitchFamily="34" charset="-120"/>
              </a:rPr>
              <a:t>15 min ?</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ulle 1"/>
          <p:cNvSpPr/>
          <p:nvPr/>
        </p:nvSpPr>
        <p:spPr>
          <a:xfrm>
            <a:off x="8229600" y="256032"/>
            <a:ext cx="548640" cy="548640"/>
          </a:xfrm>
          <a:prstGeom prst="ellipse">
            <a:avLst/>
          </a:prstGeom>
          <a:solidFill>
            <a:srgbClr val="E3F1FC"/>
          </a:solidFill>
          <a:ln/>
        </p:spPr>
      </p:sp>
      <p:sp>
        <p:nvSpPr>
          <p:cNvPr id="3" name="Bulle 2"/>
          <p:cNvSpPr/>
          <p:nvPr/>
        </p:nvSpPr>
        <p:spPr>
          <a:xfrm>
            <a:off x="7882128" y="749808"/>
            <a:ext cx="274320" cy="274320"/>
          </a:xfrm>
          <a:prstGeom prst="ellipse">
            <a:avLst/>
          </a:prstGeom>
          <a:solidFill>
            <a:srgbClr val="E3F1FC"/>
          </a:solidFill>
          <a:ln/>
        </p:spPr>
      </p:sp>
      <p:sp>
        <p:nvSpPr>
          <p:cNvPr id="4" name="Bulle 3"/>
          <p:cNvSpPr/>
          <p:nvPr/>
        </p:nvSpPr>
        <p:spPr>
          <a:xfrm>
            <a:off x="8613648" y="914400"/>
            <a:ext cx="182880" cy="182880"/>
          </a:xfrm>
          <a:prstGeom prst="ellipse">
            <a:avLst/>
          </a:prstGeom>
          <a:solidFill>
            <a:srgbClr val="FBD7AE"/>
          </a:solidFill>
          <a:ln/>
        </p:spPr>
      </p:sp>
      <p:sp>
        <p:nvSpPr>
          <p:cNvPr id="5" name="Étiquette fond"/>
          <p:cNvSpPr/>
          <p:nvPr/>
        </p:nvSpPr>
        <p:spPr>
          <a:xfrm>
            <a:off x="548640" y="411480"/>
            <a:ext cx="3154680" cy="292608"/>
          </a:xfrm>
          <a:prstGeom prst="roundRect">
            <a:avLst>
              <a:gd name="adj" fmla="val 50000"/>
            </a:avLst>
          </a:prstGeom>
          <a:solidFill>
            <a:srgbClr val="E3F1FC"/>
          </a:solidFill>
          <a:ln/>
        </p:spPr>
      </p:sp>
      <p:sp>
        <p:nvSpPr>
          <p:cNvPr id="6" name="Étiquette"/>
          <p:cNvSpPr txBox="1"/>
          <p:nvPr/>
        </p:nvSpPr>
        <p:spPr>
          <a:xfrm>
            <a:off x="548640" y="411480"/>
            <a:ext cx="3154680" cy="292608"/>
          </a:xfrm>
          <a:prstGeom prst="rect">
            <a:avLst/>
          </a:prstGeom>
          <a:noFill/>
          <a:ln/>
        </p:spPr>
        <p:txBody>
          <a:bodyPr wrap="square" lIns="0" tIns="0" rIns="0" bIns="0" rtlCol="0" anchor="ctr"/>
          <a:lstStyle/>
          <a:p>
            <a:pPr algn="ctr" indent="0" marL="0">
              <a:buNone/>
            </a:pPr>
            <a:r>
              <a:rPr lang="en-US" sz="1000" b="1" spc="100" kern="0" dirty="0">
                <a:solidFill>
                  <a:srgbClr val="1E6FD9"/>
                </a:solidFill>
                <a:latin typeface="Montserrat" pitchFamily="34" charset="0"/>
                <a:ea typeface="Montserrat" pitchFamily="34" charset="-122"/>
                <a:cs typeface="Montserrat" pitchFamily="34" charset="-120"/>
              </a:rPr>
              <a:t>IDÉE 1  ·  ACQUISITION → ACTIVATION</a:t>
            </a:r>
            <a:endParaRPr lang="en-US" sz="1000" dirty="0"/>
          </a:p>
        </p:txBody>
      </p:sp>
      <p:sp>
        <p:nvSpPr>
          <p:cNvPr id="7" name="Titre"/>
          <p:cNvSpPr txBox="1"/>
          <p:nvPr/>
        </p:nvSpPr>
        <p:spPr>
          <a:xfrm>
            <a:off x="548640" y="786384"/>
            <a:ext cx="7223760" cy="548640"/>
          </a:xfrm>
          <a:prstGeom prst="rect">
            <a:avLst/>
          </a:prstGeom>
          <a:noFill/>
          <a:ln/>
        </p:spPr>
        <p:txBody>
          <a:bodyPr wrap="square" lIns="0" tIns="0" rIns="0" bIns="0" rtlCol="0" anchor="ctr"/>
          <a:lstStyle/>
          <a:p>
            <a:pPr indent="0" marL="0">
              <a:buNone/>
            </a:pPr>
            <a:r>
              <a:rPr lang="en-US" sz="2800" b="1" dirty="0">
                <a:solidFill>
                  <a:srgbClr val="0B2D5B"/>
                </a:solidFill>
                <a:latin typeface="Montserrat" pitchFamily="34" charset="0"/>
                <a:ea typeface="Montserrat" pitchFamily="34" charset="-122"/>
                <a:cs typeface="Montserrat" pitchFamily="34" charset="-120"/>
              </a:rPr>
              <a:t>Les Ravitos HydraFizz</a:t>
            </a:r>
            <a:endParaRPr lang="en-US" sz="2800" dirty="0"/>
          </a:p>
        </p:txBody>
      </p:sp>
      <p:sp>
        <p:nvSpPr>
          <p:cNvPr id="8" name="Sous-titre"/>
          <p:cNvSpPr txBox="1"/>
          <p:nvPr/>
        </p:nvSpPr>
        <p:spPr>
          <a:xfrm>
            <a:off x="548640" y="1335024"/>
            <a:ext cx="7680960" cy="365760"/>
          </a:xfrm>
          <a:prstGeom prst="rect">
            <a:avLst/>
          </a:prstGeom>
          <a:noFill/>
          <a:ln/>
        </p:spPr>
        <p:txBody>
          <a:bodyPr wrap="square" lIns="0" tIns="0" rIns="0" bIns="0" rtlCol="0" anchor="t"/>
          <a:lstStyle/>
          <a:p>
            <a:pPr indent="0" marL="0">
              <a:buNone/>
            </a:pPr>
            <a:r>
              <a:rPr lang="en-US" sz="1300" dirty="0">
                <a:solidFill>
                  <a:srgbClr val="4A5A73"/>
                </a:solidFill>
                <a:latin typeface="Montserrat" pitchFamily="34" charset="0"/>
                <a:ea typeface="Montserrat" pitchFamily="34" charset="-122"/>
                <a:cs typeface="Montserrat" pitchFamily="34" charset="-120"/>
              </a:rPr>
              <a:t>Faire goûter HydraFizz là où l'on se dépense, puis le retrouver en pharmacie.</a:t>
            </a:r>
            <a:endParaRPr lang="en-US" sz="1300" dirty="0"/>
          </a:p>
        </p:txBody>
      </p:sp>
      <p:sp>
        <p:nvSpPr>
          <p:cNvPr id="9" name="Étape 1 fond"/>
          <p:cNvSpPr/>
          <p:nvPr/>
        </p:nvSpPr>
        <p:spPr>
          <a:xfrm>
            <a:off x="548640" y="1874520"/>
            <a:ext cx="2377440" cy="1691640"/>
          </a:xfrm>
          <a:prstGeom prst="roundRect">
            <a:avLst>
              <a:gd name="adj" fmla="val 7568"/>
            </a:avLst>
          </a:prstGeom>
          <a:solidFill>
            <a:srgbClr val="E3F1FC"/>
          </a:solidFill>
          <a:ln/>
        </p:spPr>
      </p:sp>
      <p:sp>
        <p:nvSpPr>
          <p:cNvPr id="10" name="Étape 1 circle"/>
          <p:cNvSpPr/>
          <p:nvPr/>
        </p:nvSpPr>
        <p:spPr>
          <a:xfrm>
            <a:off x="731520" y="2057400"/>
            <a:ext cx="475488" cy="475488"/>
          </a:xfrm>
          <a:prstGeom prst="ellipse">
            <a:avLst/>
          </a:prstGeom>
          <a:solidFill>
            <a:srgbClr val="F7931E"/>
          </a:solidFill>
          <a:ln/>
        </p:spPr>
      </p:sp>
      <p:pic>
        <p:nvPicPr>
          <p:cNvPr id="11" name="Étape 1 icon" descr="preencoded.png">    </p:cNvPr>
          <p:cNvPicPr>
            <a:picLocks noChangeAspect="1"/>
          </p:cNvPicPr>
          <p:nvPr/>
        </p:nvPicPr>
        <p:blipFill>
          <a:blip r:embed="rId1"/>
          <a:stretch>
            <a:fillRect/>
          </a:stretch>
        </p:blipFill>
        <p:spPr>
          <a:xfrm>
            <a:off x="850392" y="2176272"/>
            <a:ext cx="237744" cy="237744"/>
          </a:xfrm>
          <a:prstGeom prst="rect">
            <a:avLst/>
          </a:prstGeom>
        </p:spPr>
      </p:pic>
      <p:sp>
        <p:nvSpPr>
          <p:cNvPr id="12" name="Étape 1 titre"/>
          <p:cNvSpPr txBox="1"/>
          <p:nvPr/>
        </p:nvSpPr>
        <p:spPr>
          <a:xfrm>
            <a:off x="731520" y="2624328"/>
            <a:ext cx="2057400" cy="292608"/>
          </a:xfrm>
          <a:prstGeom prst="rect">
            <a:avLst/>
          </a:prstGeom>
          <a:noFill/>
          <a:ln/>
        </p:spPr>
        <p:txBody>
          <a:bodyPr wrap="square" lIns="0" tIns="0" rIns="0" bIns="0" rtlCol="0" anchor="ctr"/>
          <a:lstStyle/>
          <a:p>
            <a:pPr indent="0" marL="0">
              <a:buNone/>
            </a:pPr>
            <a:r>
              <a:rPr lang="en-US" sz="1400" b="1" dirty="0">
                <a:solidFill>
                  <a:srgbClr val="0B2D5B"/>
                </a:solidFill>
                <a:latin typeface="Montserrat" pitchFamily="34" charset="0"/>
                <a:ea typeface="Montserrat" pitchFamily="34" charset="-122"/>
                <a:cs typeface="Montserrat" pitchFamily="34" charset="-120"/>
              </a:rPr>
              <a:t>01  Le stand</a:t>
            </a:r>
            <a:endParaRPr lang="en-US" sz="1400" dirty="0"/>
          </a:p>
        </p:txBody>
      </p:sp>
      <p:sp>
        <p:nvSpPr>
          <p:cNvPr id="13" name="Étape 1 texte"/>
          <p:cNvSpPr txBox="1"/>
          <p:nvPr/>
        </p:nvSpPr>
        <p:spPr>
          <a:xfrm>
            <a:off x="731520" y="2935224"/>
            <a:ext cx="2057400" cy="548640"/>
          </a:xfrm>
          <a:prstGeom prst="rect">
            <a:avLst/>
          </a:prstGeom>
          <a:noFill/>
          <a:ln/>
        </p:spPr>
        <p:txBody>
          <a:bodyPr wrap="square" lIns="0" tIns="0" rIns="0" bIns="0"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Dégustation sur des courses urbaines, en salle de sport et sur les campus</a:t>
            </a:r>
            <a:endParaRPr lang="en-US" sz="1200" dirty="0"/>
          </a:p>
        </p:txBody>
      </p:sp>
      <p:pic>
        <p:nvPicPr>
          <p:cNvPr id="14" name="Flèche 1" descr="preencoded.png">    </p:cNvPr>
          <p:cNvPicPr>
            <a:picLocks noChangeAspect="1"/>
          </p:cNvPicPr>
          <p:nvPr/>
        </p:nvPicPr>
        <p:blipFill>
          <a:blip r:embed="rId2"/>
          <a:stretch>
            <a:fillRect/>
          </a:stretch>
        </p:blipFill>
        <p:spPr>
          <a:xfrm>
            <a:off x="2999232" y="2587752"/>
            <a:ext cx="274320" cy="274320"/>
          </a:xfrm>
          <a:prstGeom prst="rect">
            <a:avLst/>
          </a:prstGeom>
        </p:spPr>
      </p:pic>
      <p:sp>
        <p:nvSpPr>
          <p:cNvPr id="15" name="Étape 2 fond"/>
          <p:cNvSpPr/>
          <p:nvPr/>
        </p:nvSpPr>
        <p:spPr>
          <a:xfrm>
            <a:off x="3383280" y="1874520"/>
            <a:ext cx="2377440" cy="1691640"/>
          </a:xfrm>
          <a:prstGeom prst="roundRect">
            <a:avLst>
              <a:gd name="adj" fmla="val 7568"/>
            </a:avLst>
          </a:prstGeom>
          <a:solidFill>
            <a:srgbClr val="E3F1FC"/>
          </a:solidFill>
          <a:ln/>
        </p:spPr>
      </p:sp>
      <p:sp>
        <p:nvSpPr>
          <p:cNvPr id="16" name="Étape 2 circle"/>
          <p:cNvSpPr/>
          <p:nvPr/>
        </p:nvSpPr>
        <p:spPr>
          <a:xfrm>
            <a:off x="3566160" y="2057400"/>
            <a:ext cx="475488" cy="475488"/>
          </a:xfrm>
          <a:prstGeom prst="ellipse">
            <a:avLst/>
          </a:prstGeom>
          <a:solidFill>
            <a:srgbClr val="F7931E"/>
          </a:solidFill>
          <a:ln/>
        </p:spPr>
      </p:sp>
      <p:pic>
        <p:nvPicPr>
          <p:cNvPr id="17" name="Étape 2 icon" descr="preencoded.png">    </p:cNvPr>
          <p:cNvPicPr>
            <a:picLocks noChangeAspect="1"/>
          </p:cNvPicPr>
          <p:nvPr/>
        </p:nvPicPr>
        <p:blipFill>
          <a:blip r:embed="rId3"/>
          <a:stretch>
            <a:fillRect/>
          </a:stretch>
        </p:blipFill>
        <p:spPr>
          <a:xfrm>
            <a:off x="3685032" y="2176272"/>
            <a:ext cx="237744" cy="237744"/>
          </a:xfrm>
          <a:prstGeom prst="rect">
            <a:avLst/>
          </a:prstGeom>
        </p:spPr>
      </p:pic>
      <p:sp>
        <p:nvSpPr>
          <p:cNvPr id="18" name="Étape 2 titre"/>
          <p:cNvSpPr txBox="1"/>
          <p:nvPr/>
        </p:nvSpPr>
        <p:spPr>
          <a:xfrm>
            <a:off x="3566160" y="2624328"/>
            <a:ext cx="2057400" cy="292608"/>
          </a:xfrm>
          <a:prstGeom prst="rect">
            <a:avLst/>
          </a:prstGeom>
          <a:noFill/>
          <a:ln/>
        </p:spPr>
        <p:txBody>
          <a:bodyPr wrap="square" lIns="0" tIns="0" rIns="0" bIns="0" rtlCol="0" anchor="ctr"/>
          <a:lstStyle/>
          <a:p>
            <a:pPr indent="0" marL="0">
              <a:buNone/>
            </a:pPr>
            <a:r>
              <a:rPr lang="en-US" sz="1400" b="1" dirty="0">
                <a:solidFill>
                  <a:srgbClr val="0B2D5B"/>
                </a:solidFill>
                <a:latin typeface="Montserrat" pitchFamily="34" charset="0"/>
                <a:ea typeface="Montserrat" pitchFamily="34" charset="-122"/>
                <a:cs typeface="Montserrat" pitchFamily="34" charset="-120"/>
              </a:rPr>
              <a:t>02  Le QR code</a:t>
            </a:r>
            <a:endParaRPr lang="en-US" sz="1400" dirty="0"/>
          </a:p>
        </p:txBody>
      </p:sp>
      <p:sp>
        <p:nvSpPr>
          <p:cNvPr id="19" name="Étape 2 texte"/>
          <p:cNvSpPr txBox="1"/>
          <p:nvPr/>
        </p:nvSpPr>
        <p:spPr>
          <a:xfrm>
            <a:off x="3566160" y="2935224"/>
            <a:ext cx="2057400" cy="548640"/>
          </a:xfrm>
          <a:prstGeom prst="rect">
            <a:avLst/>
          </a:prstGeom>
          <a:noFill/>
          <a:ln/>
        </p:spPr>
        <p:txBody>
          <a:bodyPr wrap="square" lIns="0" tIns="0" rIns="0" bIns="0"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Quiz « Quel HydraFizz pour votre journée ? » et collecte d'emails</a:t>
            </a:r>
            <a:endParaRPr lang="en-US" sz="1200" dirty="0"/>
          </a:p>
        </p:txBody>
      </p:sp>
      <p:pic>
        <p:nvPicPr>
          <p:cNvPr id="20" name="Flèche 2" descr="preencoded.png">    </p:cNvPr>
          <p:cNvPicPr>
            <a:picLocks noChangeAspect="1"/>
          </p:cNvPicPr>
          <p:nvPr/>
        </p:nvPicPr>
        <p:blipFill>
          <a:blip r:embed="rId4"/>
          <a:stretch>
            <a:fillRect/>
          </a:stretch>
        </p:blipFill>
        <p:spPr>
          <a:xfrm>
            <a:off x="5833872" y="2587752"/>
            <a:ext cx="274320" cy="274320"/>
          </a:xfrm>
          <a:prstGeom prst="rect">
            <a:avLst/>
          </a:prstGeom>
        </p:spPr>
      </p:pic>
      <p:sp>
        <p:nvSpPr>
          <p:cNvPr id="21" name="Étape 3 fond"/>
          <p:cNvSpPr/>
          <p:nvPr/>
        </p:nvSpPr>
        <p:spPr>
          <a:xfrm>
            <a:off x="6217920" y="1874520"/>
            <a:ext cx="2377440" cy="1691640"/>
          </a:xfrm>
          <a:prstGeom prst="roundRect">
            <a:avLst>
              <a:gd name="adj" fmla="val 7568"/>
            </a:avLst>
          </a:prstGeom>
          <a:solidFill>
            <a:srgbClr val="E3F1FC"/>
          </a:solidFill>
          <a:ln/>
        </p:spPr>
      </p:sp>
      <p:sp>
        <p:nvSpPr>
          <p:cNvPr id="22" name="Étape 3 circle"/>
          <p:cNvSpPr/>
          <p:nvPr/>
        </p:nvSpPr>
        <p:spPr>
          <a:xfrm>
            <a:off x="6400800" y="2057400"/>
            <a:ext cx="475488" cy="475488"/>
          </a:xfrm>
          <a:prstGeom prst="ellipse">
            <a:avLst/>
          </a:prstGeom>
          <a:solidFill>
            <a:srgbClr val="F7931E"/>
          </a:solidFill>
          <a:ln/>
        </p:spPr>
      </p:sp>
      <p:pic>
        <p:nvPicPr>
          <p:cNvPr id="23" name="Étape 3 icon" descr="preencoded.png">    </p:cNvPr>
          <p:cNvPicPr>
            <a:picLocks noChangeAspect="1"/>
          </p:cNvPicPr>
          <p:nvPr/>
        </p:nvPicPr>
        <p:blipFill>
          <a:blip r:embed="rId5"/>
          <a:stretch>
            <a:fillRect/>
          </a:stretch>
        </p:blipFill>
        <p:spPr>
          <a:xfrm>
            <a:off x="6519672" y="2176272"/>
            <a:ext cx="237744" cy="237744"/>
          </a:xfrm>
          <a:prstGeom prst="rect">
            <a:avLst/>
          </a:prstGeom>
        </p:spPr>
      </p:pic>
      <p:sp>
        <p:nvSpPr>
          <p:cNvPr id="24" name="Étape 3 titre"/>
          <p:cNvSpPr txBox="1"/>
          <p:nvPr/>
        </p:nvSpPr>
        <p:spPr>
          <a:xfrm>
            <a:off x="6400800" y="2624328"/>
            <a:ext cx="2057400" cy="292608"/>
          </a:xfrm>
          <a:prstGeom prst="rect">
            <a:avLst/>
          </a:prstGeom>
          <a:noFill/>
          <a:ln/>
        </p:spPr>
        <p:txBody>
          <a:bodyPr wrap="square" lIns="0" tIns="0" rIns="0" bIns="0" rtlCol="0" anchor="ctr"/>
          <a:lstStyle/>
          <a:p>
            <a:pPr indent="0" marL="0">
              <a:buNone/>
            </a:pPr>
            <a:r>
              <a:rPr lang="en-US" sz="1400" b="1" dirty="0">
                <a:solidFill>
                  <a:srgbClr val="0B2D5B"/>
                </a:solidFill>
                <a:latin typeface="Montserrat" pitchFamily="34" charset="0"/>
                <a:ea typeface="Montserrat" pitchFamily="34" charset="-122"/>
                <a:cs typeface="Montserrat" pitchFamily="34" charset="-120"/>
              </a:rPr>
              <a:t>03  La pharmacie</a:t>
            </a:r>
            <a:endParaRPr lang="en-US" sz="1400" dirty="0"/>
          </a:p>
        </p:txBody>
      </p:sp>
      <p:sp>
        <p:nvSpPr>
          <p:cNvPr id="25" name="Étape 3 texte"/>
          <p:cNvSpPr txBox="1"/>
          <p:nvPr/>
        </p:nvSpPr>
        <p:spPr>
          <a:xfrm>
            <a:off x="6400800" y="2935224"/>
            <a:ext cx="2057400" cy="548640"/>
          </a:xfrm>
          <a:prstGeom prst="rect">
            <a:avLst/>
          </a:prstGeom>
          <a:noFill/>
          <a:ln/>
        </p:spPr>
        <p:txBody>
          <a:bodyPr wrap="square" lIns="0" tIns="0" rIns="0" bIns="0"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Bon de réduction à utiliser en pharmacie partenaire (drive-to-store)</a:t>
            </a:r>
            <a:endParaRPr lang="en-US" sz="1200" dirty="0"/>
          </a:p>
        </p:txBody>
      </p:sp>
      <p:sp>
        <p:nvSpPr>
          <p:cNvPr id="26" name="KPI fond"/>
          <p:cNvSpPr/>
          <p:nvPr/>
        </p:nvSpPr>
        <p:spPr>
          <a:xfrm>
            <a:off x="548640" y="3794760"/>
            <a:ext cx="3840480" cy="868680"/>
          </a:xfrm>
          <a:prstGeom prst="roundRect">
            <a:avLst>
              <a:gd name="adj" fmla="val 12632"/>
            </a:avLst>
          </a:prstGeom>
          <a:solidFill>
            <a:srgbClr val="0B2D5B"/>
          </a:solidFill>
          <a:ln/>
        </p:spPr>
      </p:sp>
      <p:sp>
        <p:nvSpPr>
          <p:cNvPr id="27" name="KPI"/>
          <p:cNvSpPr txBox="1"/>
          <p:nvPr/>
        </p:nvSpPr>
        <p:spPr>
          <a:xfrm>
            <a:off x="731520" y="3886200"/>
            <a:ext cx="3474720" cy="685800"/>
          </a:xfrm>
          <a:prstGeom prst="rect">
            <a:avLst/>
          </a:prstGeom>
          <a:noFill/>
          <a:ln/>
        </p:spPr>
        <p:txBody>
          <a:bodyPr wrap="square" lIns="0" tIns="0" rIns="0" bIns="0" rtlCol="0" anchor="ctr"/>
          <a:lstStyle/>
          <a:p>
            <a:pPr indent="0" marL="0">
              <a:spcAft>
                <a:spcPts val="300"/>
              </a:spcAft>
              <a:buNone/>
            </a:pPr>
            <a:r>
              <a:rPr lang="en-US" sz="1000" b="1" spc="100" kern="0" dirty="0">
                <a:solidFill>
                  <a:srgbClr val="F7931E"/>
                </a:solidFill>
                <a:latin typeface="Montserrat" pitchFamily="34" charset="0"/>
                <a:ea typeface="Montserrat" pitchFamily="34" charset="-122"/>
                <a:cs typeface="Montserrat" pitchFamily="34" charset="-120"/>
              </a:rPr>
              <a:t>KPI À SUIVRE</a:t>
            </a:r>
            <a:endParaRPr lang="en-US" sz="1000" dirty="0"/>
          </a:p>
          <a:p>
            <a:pPr indent="0" marL="0">
              <a:spcAft>
                <a:spcPts val="300"/>
              </a:spcAft>
              <a:buNone/>
            </a:pPr>
            <a:r>
              <a:rPr lang="en-US" sz="1200" dirty="0">
                <a:solidFill>
                  <a:srgbClr val="FFFFFF"/>
                </a:solidFill>
                <a:latin typeface="Montserrat" pitchFamily="34" charset="0"/>
                <a:ea typeface="Montserrat" pitchFamily="34" charset="-122"/>
                <a:cs typeface="Montserrat" pitchFamily="34" charset="-120"/>
              </a:rPr>
              <a:t>Leads collectés · taux de scan du QR code · ventes en pharmacies partenaires</a:t>
            </a:r>
            <a:endParaRPr lang="en-US" sz="1000" dirty="0"/>
          </a:p>
        </p:txBody>
      </p:sp>
      <p:sp>
        <p:nvSpPr>
          <p:cNvPr id="28" name="Pourquoi moi fond"/>
          <p:cNvSpPr/>
          <p:nvPr/>
        </p:nvSpPr>
        <p:spPr>
          <a:xfrm>
            <a:off x="4754880" y="3794760"/>
            <a:ext cx="3840480" cy="868680"/>
          </a:xfrm>
          <a:prstGeom prst="roundRect">
            <a:avLst>
              <a:gd name="adj" fmla="val 12632"/>
            </a:avLst>
          </a:prstGeom>
          <a:solidFill>
            <a:srgbClr val="FFF1E3"/>
          </a:solidFill>
          <a:ln/>
        </p:spPr>
      </p:sp>
      <p:sp>
        <p:nvSpPr>
          <p:cNvPr id="29" name="Pourquoi moi"/>
          <p:cNvSpPr txBox="1"/>
          <p:nvPr/>
        </p:nvSpPr>
        <p:spPr>
          <a:xfrm>
            <a:off x="4937760" y="3886200"/>
            <a:ext cx="3474720" cy="685800"/>
          </a:xfrm>
          <a:prstGeom prst="rect">
            <a:avLst/>
          </a:prstGeom>
          <a:noFill/>
          <a:ln/>
        </p:spPr>
        <p:txBody>
          <a:bodyPr wrap="square" lIns="0" tIns="0" rIns="0" bIns="0" rtlCol="0" anchor="ctr"/>
          <a:lstStyle/>
          <a:p>
            <a:pPr indent="0" marL="0">
              <a:spcAft>
                <a:spcPts val="300"/>
              </a:spcAft>
              <a:buNone/>
            </a:pPr>
            <a:r>
              <a:rPr lang="en-US" sz="1000" b="1" spc="100" kern="0" dirty="0">
                <a:solidFill>
                  <a:srgbClr val="B95E00"/>
                </a:solidFill>
                <a:latin typeface="Montserrat" pitchFamily="34" charset="0"/>
                <a:ea typeface="Montserrat" pitchFamily="34" charset="-122"/>
                <a:cs typeface="Montserrat" pitchFamily="34" charset="-120"/>
              </a:rPr>
              <a:t>POURQUOI MOI</a:t>
            </a:r>
            <a:endParaRPr lang="en-US" sz="1000" dirty="0"/>
          </a:p>
          <a:p>
            <a:pPr indent="0" marL="0">
              <a:spcAft>
                <a:spcPts val="300"/>
              </a:spcAft>
              <a:buNone/>
            </a:pPr>
            <a:r>
              <a:rPr lang="en-US" sz="1200" dirty="0">
                <a:solidFill>
                  <a:srgbClr val="14213D"/>
                </a:solidFill>
                <a:latin typeface="Montserrat" pitchFamily="34" charset="0"/>
                <a:ea typeface="Montserrat" pitchFamily="34" charset="-122"/>
                <a:cs typeface="Montserrat" pitchFamily="34" charset="-120"/>
              </a:rPr>
              <a:t>J'organise des événements de la conception à la logistique terrain.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Bulle 1"/>
          <p:cNvSpPr/>
          <p:nvPr/>
        </p:nvSpPr>
        <p:spPr>
          <a:xfrm>
            <a:off x="8229600" y="256032"/>
            <a:ext cx="548640" cy="548640"/>
          </a:xfrm>
          <a:prstGeom prst="ellipse">
            <a:avLst/>
          </a:prstGeom>
          <a:solidFill>
            <a:srgbClr val="E3F1FC"/>
          </a:solidFill>
          <a:ln/>
        </p:spPr>
      </p:sp>
      <p:sp>
        <p:nvSpPr>
          <p:cNvPr id="3" name="Bulle 2"/>
          <p:cNvSpPr/>
          <p:nvPr/>
        </p:nvSpPr>
        <p:spPr>
          <a:xfrm>
            <a:off x="7882128" y="749808"/>
            <a:ext cx="274320" cy="274320"/>
          </a:xfrm>
          <a:prstGeom prst="ellipse">
            <a:avLst/>
          </a:prstGeom>
          <a:solidFill>
            <a:srgbClr val="E3F1FC"/>
          </a:solidFill>
          <a:ln/>
        </p:spPr>
      </p:sp>
      <p:sp>
        <p:nvSpPr>
          <p:cNvPr id="4" name="Bulle 3"/>
          <p:cNvSpPr/>
          <p:nvPr/>
        </p:nvSpPr>
        <p:spPr>
          <a:xfrm>
            <a:off x="8613648" y="914400"/>
            <a:ext cx="182880" cy="182880"/>
          </a:xfrm>
          <a:prstGeom prst="ellipse">
            <a:avLst/>
          </a:prstGeom>
          <a:solidFill>
            <a:srgbClr val="FBD7AE"/>
          </a:solidFill>
          <a:ln/>
        </p:spPr>
      </p:sp>
      <p:sp>
        <p:nvSpPr>
          <p:cNvPr id="5" name="Étiquette fond"/>
          <p:cNvSpPr/>
          <p:nvPr/>
        </p:nvSpPr>
        <p:spPr>
          <a:xfrm>
            <a:off x="548640" y="411480"/>
            <a:ext cx="3703320" cy="292608"/>
          </a:xfrm>
          <a:prstGeom prst="roundRect">
            <a:avLst>
              <a:gd name="adj" fmla="val 50000"/>
            </a:avLst>
          </a:prstGeom>
          <a:solidFill>
            <a:srgbClr val="E3F1FC"/>
          </a:solidFill>
          <a:ln/>
        </p:spPr>
      </p:sp>
      <p:sp>
        <p:nvSpPr>
          <p:cNvPr id="6" name="Étiquette"/>
          <p:cNvSpPr txBox="1"/>
          <p:nvPr/>
        </p:nvSpPr>
        <p:spPr>
          <a:xfrm>
            <a:off x="548640" y="411480"/>
            <a:ext cx="3703320" cy="292608"/>
          </a:xfrm>
          <a:prstGeom prst="rect">
            <a:avLst/>
          </a:prstGeom>
          <a:noFill/>
          <a:ln/>
        </p:spPr>
        <p:txBody>
          <a:bodyPr wrap="square" lIns="0" tIns="0" rIns="0" bIns="0" rtlCol="0" anchor="ctr"/>
          <a:lstStyle/>
          <a:p>
            <a:pPr algn="ctr" indent="0" marL="0">
              <a:buNone/>
            </a:pPr>
            <a:r>
              <a:rPr lang="en-US" sz="1000" b="1" spc="100" kern="0" dirty="0">
                <a:solidFill>
                  <a:srgbClr val="1E6FD9"/>
                </a:solidFill>
                <a:latin typeface="Montserrat" pitchFamily="34" charset="0"/>
                <a:ea typeface="Montserrat" pitchFamily="34" charset="-122"/>
                <a:cs typeface="Montserrat" pitchFamily="34" charset="-120"/>
              </a:rPr>
              <a:t>IDÉE 2  ·  RÉTENTION → RECOMMANDATION</a:t>
            </a:r>
            <a:endParaRPr lang="en-US" sz="1000" dirty="0"/>
          </a:p>
        </p:txBody>
      </p:sp>
      <p:sp>
        <p:nvSpPr>
          <p:cNvPr id="7" name="Titre"/>
          <p:cNvSpPr txBox="1"/>
          <p:nvPr/>
        </p:nvSpPr>
        <p:spPr>
          <a:xfrm>
            <a:off x="548640" y="786384"/>
            <a:ext cx="7223760" cy="548640"/>
          </a:xfrm>
          <a:prstGeom prst="rect">
            <a:avLst/>
          </a:prstGeom>
          <a:noFill/>
          <a:ln/>
        </p:spPr>
        <p:txBody>
          <a:bodyPr wrap="square" lIns="0" tIns="0" rIns="0" bIns="0" rtlCol="0" anchor="ctr"/>
          <a:lstStyle/>
          <a:p>
            <a:pPr indent="0" marL="0">
              <a:buNone/>
            </a:pPr>
            <a:r>
              <a:rPr lang="en-US" sz="2800" b="1" dirty="0">
                <a:solidFill>
                  <a:srgbClr val="0B2D5B"/>
                </a:solidFill>
                <a:latin typeface="Montserrat" pitchFamily="34" charset="0"/>
                <a:ea typeface="Montserrat" pitchFamily="34" charset="-122"/>
                <a:cs typeface="Montserrat" pitchFamily="34" charset="-120"/>
              </a:rPr>
              <a:t>« Mon épreuve du jour »</a:t>
            </a:r>
            <a:endParaRPr lang="en-US" sz="2800" dirty="0"/>
          </a:p>
        </p:txBody>
      </p:sp>
      <p:sp>
        <p:nvSpPr>
          <p:cNvPr id="8" name="Sous-titre"/>
          <p:cNvSpPr txBox="1"/>
          <p:nvPr/>
        </p:nvSpPr>
        <p:spPr>
          <a:xfrm>
            <a:off x="548640" y="1335024"/>
            <a:ext cx="7680960" cy="365760"/>
          </a:xfrm>
          <a:prstGeom prst="rect">
            <a:avLst/>
          </a:prstGeom>
          <a:noFill/>
          <a:ln/>
        </p:spPr>
        <p:txBody>
          <a:bodyPr wrap="square" lIns="0" tIns="0" rIns="0" bIns="0" rtlCol="0" anchor="t"/>
          <a:lstStyle/>
          <a:p>
            <a:pPr indent="0" marL="0">
              <a:buNone/>
            </a:pPr>
            <a:r>
              <a:rPr lang="en-US" sz="1300" dirty="0">
                <a:solidFill>
                  <a:srgbClr val="4A5A73"/>
                </a:solidFill>
                <a:latin typeface="Montserrat" pitchFamily="34" charset="0"/>
                <a:ea typeface="Montserrat" pitchFamily="34" charset="-122"/>
                <a:cs typeface="Montserrat" pitchFamily="34" charset="-120"/>
              </a:rPr>
              <a:t>Une série vidéo dans l'esprit de votre campagne des « athlètes du quotidien ».</a:t>
            </a:r>
            <a:endParaRPr lang="en-US" sz="1300" dirty="0"/>
          </a:p>
        </p:txBody>
      </p:sp>
      <p:sp>
        <p:nvSpPr>
          <p:cNvPr id="9" name="Ligne 1 circle"/>
          <p:cNvSpPr/>
          <p:nvPr/>
        </p:nvSpPr>
        <p:spPr>
          <a:xfrm>
            <a:off x="548640" y="1828800"/>
            <a:ext cx="420624" cy="420624"/>
          </a:xfrm>
          <a:prstGeom prst="ellipse">
            <a:avLst/>
          </a:prstGeom>
          <a:solidFill>
            <a:srgbClr val="F7931E"/>
          </a:solidFill>
          <a:ln/>
        </p:spPr>
      </p:sp>
      <p:pic>
        <p:nvPicPr>
          <p:cNvPr id="10" name="Ligne 1 icon" descr="preencoded.png">    </p:cNvPr>
          <p:cNvPicPr>
            <a:picLocks noChangeAspect="1"/>
          </p:cNvPicPr>
          <p:nvPr/>
        </p:nvPicPr>
        <p:blipFill>
          <a:blip r:embed="rId1"/>
          <a:stretch>
            <a:fillRect/>
          </a:stretch>
        </p:blipFill>
        <p:spPr>
          <a:xfrm>
            <a:off x="653796" y="1933956"/>
            <a:ext cx="210312" cy="210312"/>
          </a:xfrm>
          <a:prstGeom prst="rect">
            <a:avLst/>
          </a:prstGeom>
        </p:spPr>
      </p:pic>
      <p:sp>
        <p:nvSpPr>
          <p:cNvPr id="11" name="Ligne 1 texte"/>
          <p:cNvSpPr txBox="1"/>
          <p:nvPr/>
        </p:nvSpPr>
        <p:spPr>
          <a:xfrm>
            <a:off x="1143000" y="1792224"/>
            <a:ext cx="4343400" cy="621792"/>
          </a:xfrm>
          <a:prstGeom prst="rect">
            <a:avLst/>
          </a:prstGeom>
          <a:noFill/>
          <a:ln/>
        </p:spPr>
        <p:txBody>
          <a:bodyPr wrap="square" lIns="0" tIns="0" rIns="0" bIns="0" rtlCol="0" anchor="t"/>
          <a:lstStyle/>
          <a:p>
            <a:pPr indent="0" marL="0">
              <a:buNone/>
            </a:pPr>
            <a:r>
              <a:rPr lang="en-US" sz="1300" b="1" dirty="0">
                <a:solidFill>
                  <a:srgbClr val="0B2D5B"/>
                </a:solidFill>
                <a:latin typeface="Montserrat" pitchFamily="34" charset="0"/>
                <a:ea typeface="Montserrat" pitchFamily="34" charset="-122"/>
                <a:cs typeface="Montserrat" pitchFamily="34" charset="-120"/>
              </a:rPr>
              <a:t>Le concept</a:t>
            </a:r>
            <a:endParaRPr lang="en-US" sz="1300" dirty="0"/>
          </a:p>
          <a:p>
            <a:pPr indent="0" marL="0">
              <a:buNone/>
            </a:pPr>
            <a:r>
              <a:rPr lang="en-US" sz="1200" dirty="0">
                <a:solidFill>
                  <a:srgbClr val="14213D"/>
                </a:solidFill>
                <a:latin typeface="Montserrat" pitchFamily="34" charset="0"/>
                <a:ea typeface="Montserrat" pitchFamily="34" charset="-122"/>
                <a:cs typeface="Montserrat" pitchFamily="34" charset="-120"/>
              </a:rPr>
              <a:t>De vrais clients racontent leur épreuve du quotidien comme une interview d'après-match.</a:t>
            </a:r>
            <a:endParaRPr lang="en-US" sz="1300" dirty="0"/>
          </a:p>
        </p:txBody>
      </p:sp>
      <p:sp>
        <p:nvSpPr>
          <p:cNvPr id="12" name="Ligne 2 circle"/>
          <p:cNvSpPr/>
          <p:nvPr/>
        </p:nvSpPr>
        <p:spPr>
          <a:xfrm>
            <a:off x="548640" y="2514600"/>
            <a:ext cx="420624" cy="420624"/>
          </a:xfrm>
          <a:prstGeom prst="ellipse">
            <a:avLst/>
          </a:prstGeom>
          <a:solidFill>
            <a:srgbClr val="F7931E"/>
          </a:solidFill>
          <a:ln/>
        </p:spPr>
      </p:sp>
      <p:pic>
        <p:nvPicPr>
          <p:cNvPr id="13" name="Ligne 2 icon" descr="preencoded.png">    </p:cNvPr>
          <p:cNvPicPr>
            <a:picLocks noChangeAspect="1"/>
          </p:cNvPicPr>
          <p:nvPr/>
        </p:nvPicPr>
        <p:blipFill>
          <a:blip r:embed="rId2"/>
          <a:stretch>
            <a:fillRect/>
          </a:stretch>
        </p:blipFill>
        <p:spPr>
          <a:xfrm>
            <a:off x="653796" y="2619756"/>
            <a:ext cx="210312" cy="210312"/>
          </a:xfrm>
          <a:prstGeom prst="rect">
            <a:avLst/>
          </a:prstGeom>
        </p:spPr>
      </p:pic>
      <p:sp>
        <p:nvSpPr>
          <p:cNvPr id="14" name="Ligne 2 texte"/>
          <p:cNvSpPr txBox="1"/>
          <p:nvPr/>
        </p:nvSpPr>
        <p:spPr>
          <a:xfrm>
            <a:off x="1143000" y="2478024"/>
            <a:ext cx="4343400" cy="621792"/>
          </a:xfrm>
          <a:prstGeom prst="rect">
            <a:avLst/>
          </a:prstGeom>
          <a:noFill/>
          <a:ln/>
        </p:spPr>
        <p:txBody>
          <a:bodyPr wrap="square" lIns="0" tIns="0" rIns="0" bIns="0" rtlCol="0" anchor="t"/>
          <a:lstStyle/>
          <a:p>
            <a:pPr indent="0" marL="0">
              <a:buNone/>
            </a:pPr>
            <a:r>
              <a:rPr lang="en-US" sz="1300" b="1" dirty="0">
                <a:solidFill>
                  <a:srgbClr val="0B2D5B"/>
                </a:solidFill>
                <a:latin typeface="Montserrat" pitchFamily="34" charset="0"/>
                <a:ea typeface="Montserrat" pitchFamily="34" charset="-122"/>
                <a:cs typeface="Montserrat" pitchFamily="34" charset="-120"/>
              </a:rPr>
              <a:t>La mécanique</a:t>
            </a:r>
            <a:endParaRPr lang="en-US" sz="1300" dirty="0"/>
          </a:p>
          <a:p>
            <a:pPr indent="0" marL="0">
              <a:buNone/>
            </a:pPr>
            <a:r>
              <a:rPr lang="en-US" sz="1200" dirty="0">
                <a:solidFill>
                  <a:srgbClr val="14213D"/>
                </a:solidFill>
                <a:latin typeface="Montserrat" pitchFamily="34" charset="0"/>
                <a:ea typeface="Montserrat" pitchFamily="34" charset="-122"/>
                <a:cs typeface="Montserrat" pitchFamily="34" charset="-120"/>
              </a:rPr>
              <a:t>Appel à participation avec #MonÉpreuveDuJour, les meilleures vidéos sont republiées (UGC).</a:t>
            </a:r>
            <a:endParaRPr lang="en-US" sz="1300" dirty="0"/>
          </a:p>
        </p:txBody>
      </p:sp>
      <p:sp>
        <p:nvSpPr>
          <p:cNvPr id="15" name="Ligne 3 circle"/>
          <p:cNvSpPr/>
          <p:nvPr/>
        </p:nvSpPr>
        <p:spPr>
          <a:xfrm>
            <a:off x="548640" y="3200400"/>
            <a:ext cx="420624" cy="420624"/>
          </a:xfrm>
          <a:prstGeom prst="ellipse">
            <a:avLst/>
          </a:prstGeom>
          <a:solidFill>
            <a:srgbClr val="F7931E"/>
          </a:solidFill>
          <a:ln/>
        </p:spPr>
      </p:sp>
      <p:pic>
        <p:nvPicPr>
          <p:cNvPr id="16" name="Ligne 3 icon" descr="preencoded.png">    </p:cNvPr>
          <p:cNvPicPr>
            <a:picLocks noChangeAspect="1"/>
          </p:cNvPicPr>
          <p:nvPr/>
        </p:nvPicPr>
        <p:blipFill>
          <a:blip r:embed="rId3"/>
          <a:stretch>
            <a:fillRect/>
          </a:stretch>
        </p:blipFill>
        <p:spPr>
          <a:xfrm>
            <a:off x="653796" y="3305556"/>
            <a:ext cx="210312" cy="210312"/>
          </a:xfrm>
          <a:prstGeom prst="rect">
            <a:avLst/>
          </a:prstGeom>
        </p:spPr>
      </p:pic>
      <p:sp>
        <p:nvSpPr>
          <p:cNvPr id="17" name="Ligne 3 texte"/>
          <p:cNvSpPr txBox="1"/>
          <p:nvPr/>
        </p:nvSpPr>
        <p:spPr>
          <a:xfrm>
            <a:off x="1143000" y="3163824"/>
            <a:ext cx="4343400" cy="621792"/>
          </a:xfrm>
          <a:prstGeom prst="rect">
            <a:avLst/>
          </a:prstGeom>
          <a:noFill/>
          <a:ln/>
        </p:spPr>
        <p:txBody>
          <a:bodyPr wrap="square" lIns="0" tIns="0" rIns="0" bIns="0" rtlCol="0" anchor="t"/>
          <a:lstStyle/>
          <a:p>
            <a:pPr indent="0" marL="0">
              <a:buNone/>
            </a:pPr>
            <a:r>
              <a:rPr lang="en-US" sz="1300" b="1" dirty="0">
                <a:solidFill>
                  <a:srgbClr val="0B2D5B"/>
                </a:solidFill>
                <a:latin typeface="Montserrat" pitchFamily="34" charset="0"/>
                <a:ea typeface="Montserrat" pitchFamily="34" charset="-122"/>
                <a:cs typeface="Montserrat" pitchFamily="34" charset="-120"/>
              </a:rPr>
              <a:t>Les KPI</a:t>
            </a:r>
            <a:endParaRPr lang="en-US" sz="1300" dirty="0"/>
          </a:p>
          <a:p>
            <a:pPr indent="0" marL="0">
              <a:buNone/>
            </a:pPr>
            <a:r>
              <a:rPr lang="en-US" sz="1200" dirty="0">
                <a:solidFill>
                  <a:srgbClr val="14213D"/>
                </a:solidFill>
                <a:latin typeface="Montserrat" pitchFamily="34" charset="0"/>
                <a:ea typeface="Montserrat" pitchFamily="34" charset="-122"/>
                <a:cs typeface="Montserrat" pitchFamily="34" charset="-120"/>
              </a:rPr>
              <a:t>Participations, partages, taux d'engagement : pas seulement les vues.</a:t>
            </a:r>
            <a:endParaRPr lang="en-US" sz="1300" dirty="0"/>
          </a:p>
        </p:txBody>
      </p:sp>
      <p:sp>
        <p:nvSpPr>
          <p:cNvPr id="18" name="Pourquoi moi fond"/>
          <p:cNvSpPr/>
          <p:nvPr/>
        </p:nvSpPr>
        <p:spPr>
          <a:xfrm>
            <a:off x="548640" y="3931920"/>
            <a:ext cx="4937760" cy="731520"/>
          </a:xfrm>
          <a:prstGeom prst="roundRect">
            <a:avLst>
              <a:gd name="adj" fmla="val 15000"/>
            </a:avLst>
          </a:prstGeom>
          <a:solidFill>
            <a:srgbClr val="FFF1E3"/>
          </a:solidFill>
          <a:ln/>
        </p:spPr>
      </p:sp>
      <p:sp>
        <p:nvSpPr>
          <p:cNvPr id="19" name="Pourquoi moi"/>
          <p:cNvSpPr txBox="1"/>
          <p:nvPr/>
        </p:nvSpPr>
        <p:spPr>
          <a:xfrm>
            <a:off x="731520" y="4023360"/>
            <a:ext cx="4572000" cy="548640"/>
          </a:xfrm>
          <a:prstGeom prst="rect">
            <a:avLst/>
          </a:prstGeom>
          <a:noFill/>
          <a:ln/>
        </p:spPr>
        <p:txBody>
          <a:bodyPr wrap="square" lIns="0" tIns="0" rIns="0" bIns="0" rtlCol="0" anchor="ctr"/>
          <a:lstStyle/>
          <a:p>
            <a:pPr indent="0" marL="0">
              <a:spcAft>
                <a:spcPts val="300"/>
              </a:spcAft>
              <a:buNone/>
            </a:pPr>
            <a:r>
              <a:rPr lang="en-US" sz="1000" b="1" spc="100" kern="0" dirty="0">
                <a:solidFill>
                  <a:srgbClr val="B95E00"/>
                </a:solidFill>
                <a:latin typeface="Montserrat" pitchFamily="34" charset="0"/>
                <a:ea typeface="Montserrat" pitchFamily="34" charset="-122"/>
                <a:cs typeface="Montserrat" pitchFamily="34" charset="-120"/>
              </a:rPr>
              <a:t>POURQUOI MOI</a:t>
            </a:r>
            <a:endParaRPr lang="en-US" sz="1000" dirty="0"/>
          </a:p>
          <a:p>
            <a:pPr indent="0" marL="0">
              <a:spcAft>
                <a:spcPts val="300"/>
              </a:spcAft>
              <a:buNone/>
            </a:pPr>
            <a:r>
              <a:rPr lang="en-US" sz="1200" dirty="0">
                <a:solidFill>
                  <a:srgbClr val="14213D"/>
                </a:solidFill>
                <a:latin typeface="Montserrat" pitchFamily="34" charset="0"/>
                <a:ea typeface="Montserrat" pitchFamily="34" charset="-122"/>
                <a:cs typeface="Montserrat" pitchFamily="34" charset="-120"/>
              </a:rPr>
              <a:t>Scripts et montage vidéo à Hanoi TV (CapCut), gestion de réseaux sociaux.</a:t>
            </a:r>
            <a:endParaRPr lang="en-US" sz="1000" dirty="0"/>
          </a:p>
        </p:txBody>
      </p:sp>
      <p:sp>
        <p:nvSpPr>
          <p:cNvPr id="20" name="Maquette fond"/>
          <p:cNvSpPr/>
          <p:nvPr/>
        </p:nvSpPr>
        <p:spPr>
          <a:xfrm>
            <a:off x="5852160" y="1828800"/>
            <a:ext cx="2743200" cy="2834640"/>
          </a:xfrm>
          <a:prstGeom prst="roundRect">
            <a:avLst>
              <a:gd name="adj" fmla="val 5333"/>
            </a:avLst>
          </a:prstGeom>
          <a:solidFill>
            <a:srgbClr val="E3F1FC"/>
          </a:solidFill>
          <a:ln/>
        </p:spPr>
      </p:sp>
      <p:sp>
        <p:nvSpPr>
          <p:cNvPr id="21" name="Téléphone"/>
          <p:cNvSpPr/>
          <p:nvPr/>
        </p:nvSpPr>
        <p:spPr>
          <a:xfrm>
            <a:off x="6583680" y="1938528"/>
            <a:ext cx="1280160" cy="2615184"/>
          </a:xfrm>
          <a:prstGeom prst="roundRect">
            <a:avLst>
              <a:gd name="adj" fmla="val 12857"/>
            </a:avLst>
          </a:prstGeom>
          <a:solidFill>
            <a:srgbClr val="0B2D5B"/>
          </a:solidFill>
          <a:ln/>
        </p:spPr>
      </p:sp>
      <p:sp>
        <p:nvSpPr>
          <p:cNvPr id="22" name="Écran"/>
          <p:cNvSpPr/>
          <p:nvPr/>
        </p:nvSpPr>
        <p:spPr>
          <a:xfrm>
            <a:off x="6665976" y="2039112"/>
            <a:ext cx="1115568" cy="2414016"/>
          </a:xfrm>
          <a:prstGeom prst="roundRect">
            <a:avLst>
              <a:gd name="adj" fmla="val 9836"/>
            </a:avLst>
          </a:prstGeom>
          <a:solidFill>
            <a:srgbClr val="1E6FD9"/>
          </a:solidFill>
          <a:ln/>
        </p:spPr>
      </p:sp>
      <p:sp>
        <p:nvSpPr>
          <p:cNvPr id="23" name="Écran texte"/>
          <p:cNvSpPr txBox="1"/>
          <p:nvPr/>
        </p:nvSpPr>
        <p:spPr>
          <a:xfrm>
            <a:off x="6748272" y="2176272"/>
            <a:ext cx="950976" cy="914400"/>
          </a:xfrm>
          <a:prstGeom prst="rect">
            <a:avLst/>
          </a:prstGeom>
          <a:noFill/>
          <a:ln/>
        </p:spPr>
        <p:txBody>
          <a:bodyPr wrap="square" lIns="0" tIns="0" rIns="0" bIns="0" rtlCol="0" anchor="t"/>
          <a:lstStyle/>
          <a:p>
            <a:pPr indent="0" marL="0">
              <a:spcAft>
                <a:spcPts val="400"/>
              </a:spcAft>
              <a:buNone/>
            </a:pPr>
            <a:r>
              <a:rPr lang="en-US" sz="700" b="1" spc="100" kern="0" dirty="0">
                <a:solidFill>
                  <a:srgbClr val="F7931E"/>
                </a:solidFill>
                <a:latin typeface="Montserrat" pitchFamily="34" charset="0"/>
                <a:ea typeface="Montserrat" pitchFamily="34" charset="-122"/>
                <a:cs typeface="Montserrat" pitchFamily="34" charset="-120"/>
              </a:rPr>
              <a:t>ÉPREUVE DU JOUR</a:t>
            </a:r>
            <a:endParaRPr lang="en-US" sz="700" dirty="0"/>
          </a:p>
          <a:p>
            <a:pPr indent="0" marL="0">
              <a:spcAft>
                <a:spcPts val="400"/>
              </a:spcAft>
              <a:buNone/>
            </a:pPr>
            <a:r>
              <a:rPr lang="en-US" sz="1100" b="1" dirty="0">
                <a:solidFill>
                  <a:srgbClr val="FFFFFF"/>
                </a:solidFill>
                <a:latin typeface="Montserrat" pitchFamily="34" charset="0"/>
                <a:ea typeface="Montserrat" pitchFamily="34" charset="-122"/>
                <a:cs typeface="Montserrat" pitchFamily="34" charset="-120"/>
              </a:rPr>
              <a:t>4 heures de partiels sans pause</a:t>
            </a:r>
            <a:endParaRPr lang="en-US" sz="700" dirty="0"/>
          </a:p>
        </p:txBody>
      </p:sp>
      <p:sp>
        <p:nvSpPr>
          <p:cNvPr id="24" name="Bouton lecture"/>
          <p:cNvSpPr/>
          <p:nvPr/>
        </p:nvSpPr>
        <p:spPr>
          <a:xfrm>
            <a:off x="6995160" y="3246120"/>
            <a:ext cx="457200" cy="457200"/>
          </a:xfrm>
          <a:prstGeom prst="ellipse">
            <a:avLst/>
          </a:prstGeom>
          <a:solidFill>
            <a:srgbClr val="FFFFFF"/>
          </a:solidFill>
          <a:ln/>
        </p:spPr>
      </p:sp>
      <p:pic>
        <p:nvPicPr>
          <p:cNvPr id="25" name="Icône lecture" descr="preencoded.png">    </p:cNvPr>
          <p:cNvPicPr>
            <a:picLocks noChangeAspect="1"/>
          </p:cNvPicPr>
          <p:nvPr/>
        </p:nvPicPr>
        <p:blipFill>
          <a:blip r:embed="rId4"/>
          <a:stretch>
            <a:fillRect/>
          </a:stretch>
        </p:blipFill>
        <p:spPr>
          <a:xfrm>
            <a:off x="7159752" y="3374136"/>
            <a:ext cx="182880" cy="201168"/>
          </a:xfrm>
          <a:prstGeom prst="rect">
            <a:avLst/>
          </a:prstGeom>
        </p:spPr>
      </p:pic>
      <p:sp>
        <p:nvSpPr>
          <p:cNvPr id="26" name="Hashtag écran"/>
          <p:cNvSpPr txBox="1"/>
          <p:nvPr/>
        </p:nvSpPr>
        <p:spPr>
          <a:xfrm>
            <a:off x="6684264" y="4069080"/>
            <a:ext cx="1078992"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Montserrat" pitchFamily="34" charset="0"/>
                <a:ea typeface="Montserrat" pitchFamily="34" charset="-122"/>
                <a:cs typeface="Montserrat" pitchFamily="34" charset="-120"/>
              </a:rPr>
              <a:t>#MonÉpreuveDuJour</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Bulle 1"/>
          <p:cNvSpPr/>
          <p:nvPr/>
        </p:nvSpPr>
        <p:spPr>
          <a:xfrm>
            <a:off x="8229600" y="256032"/>
            <a:ext cx="548640" cy="548640"/>
          </a:xfrm>
          <a:prstGeom prst="ellipse">
            <a:avLst/>
          </a:prstGeom>
          <a:solidFill>
            <a:srgbClr val="E3F1FC"/>
          </a:solidFill>
          <a:ln/>
        </p:spPr>
      </p:sp>
      <p:sp>
        <p:nvSpPr>
          <p:cNvPr id="3" name="Bulle 2"/>
          <p:cNvSpPr/>
          <p:nvPr/>
        </p:nvSpPr>
        <p:spPr>
          <a:xfrm>
            <a:off x="7882128" y="749808"/>
            <a:ext cx="274320" cy="274320"/>
          </a:xfrm>
          <a:prstGeom prst="ellipse">
            <a:avLst/>
          </a:prstGeom>
          <a:solidFill>
            <a:srgbClr val="E3F1FC"/>
          </a:solidFill>
          <a:ln/>
        </p:spPr>
      </p:sp>
      <p:sp>
        <p:nvSpPr>
          <p:cNvPr id="4" name="Bulle 3"/>
          <p:cNvSpPr/>
          <p:nvPr/>
        </p:nvSpPr>
        <p:spPr>
          <a:xfrm>
            <a:off x="8613648" y="914400"/>
            <a:ext cx="182880" cy="182880"/>
          </a:xfrm>
          <a:prstGeom prst="ellipse">
            <a:avLst/>
          </a:prstGeom>
          <a:solidFill>
            <a:srgbClr val="FBD7AE"/>
          </a:solidFill>
          <a:ln/>
        </p:spPr>
      </p:sp>
      <p:sp>
        <p:nvSpPr>
          <p:cNvPr id="5" name="Étiquette fond"/>
          <p:cNvSpPr/>
          <p:nvPr/>
        </p:nvSpPr>
        <p:spPr>
          <a:xfrm>
            <a:off x="548640" y="411480"/>
            <a:ext cx="3931920" cy="292608"/>
          </a:xfrm>
          <a:prstGeom prst="roundRect">
            <a:avLst>
              <a:gd name="adj" fmla="val 50000"/>
            </a:avLst>
          </a:prstGeom>
          <a:solidFill>
            <a:srgbClr val="E3F1FC"/>
          </a:solidFill>
          <a:ln/>
        </p:spPr>
      </p:sp>
      <p:sp>
        <p:nvSpPr>
          <p:cNvPr id="6" name="Étiquette"/>
          <p:cNvSpPr txBox="1"/>
          <p:nvPr/>
        </p:nvSpPr>
        <p:spPr>
          <a:xfrm>
            <a:off x="548640" y="411480"/>
            <a:ext cx="3931920" cy="292608"/>
          </a:xfrm>
          <a:prstGeom prst="rect">
            <a:avLst/>
          </a:prstGeom>
          <a:noFill/>
          <a:ln/>
        </p:spPr>
        <p:txBody>
          <a:bodyPr wrap="square" lIns="0" tIns="0" rIns="0" bIns="0" rtlCol="0" anchor="ctr"/>
          <a:lstStyle/>
          <a:p>
            <a:pPr algn="ctr" indent="0" marL="0">
              <a:buNone/>
            </a:pPr>
            <a:r>
              <a:rPr lang="en-US" sz="1000" b="1" spc="100" kern="0" dirty="0">
                <a:solidFill>
                  <a:srgbClr val="1E6FD9"/>
                </a:solidFill>
                <a:latin typeface="Montserrat" pitchFamily="34" charset="0"/>
                <a:ea typeface="Montserrat" pitchFamily="34" charset="-122"/>
                <a:cs typeface="Montserrat" pitchFamily="34" charset="-120"/>
              </a:rPr>
              <a:t>IDÉE 3  ·  COM INTERNE → MARQUE EMPLOYEUR</a:t>
            </a:r>
            <a:endParaRPr lang="en-US" sz="1000" dirty="0"/>
          </a:p>
        </p:txBody>
      </p:sp>
      <p:sp>
        <p:nvSpPr>
          <p:cNvPr id="7" name="Titre"/>
          <p:cNvSpPr txBox="1"/>
          <p:nvPr/>
        </p:nvSpPr>
        <p:spPr>
          <a:xfrm>
            <a:off x="548640" y="786384"/>
            <a:ext cx="7223760" cy="548640"/>
          </a:xfrm>
          <a:prstGeom prst="rect">
            <a:avLst/>
          </a:prstGeom>
          <a:noFill/>
          <a:ln/>
        </p:spPr>
        <p:txBody>
          <a:bodyPr wrap="square" lIns="0" tIns="0" rIns="0" bIns="0" rtlCol="0" anchor="ctr"/>
          <a:lstStyle/>
          <a:p>
            <a:pPr indent="0" marL="0">
              <a:buNone/>
            </a:pPr>
            <a:r>
              <a:rPr lang="en-US" sz="2800" b="1" dirty="0">
                <a:solidFill>
                  <a:srgbClr val="0B2D5B"/>
                </a:solidFill>
                <a:latin typeface="Montserrat" pitchFamily="34" charset="0"/>
                <a:ea typeface="Montserrat" pitchFamily="34" charset="-122"/>
                <a:cs typeface="Montserrat" pitchFamily="34" charset="-120"/>
              </a:rPr>
              <a:t>Les athlètes d'UPSA</a:t>
            </a:r>
            <a:endParaRPr lang="en-US" sz="2800" dirty="0"/>
          </a:p>
        </p:txBody>
      </p:sp>
      <p:sp>
        <p:nvSpPr>
          <p:cNvPr id="8" name="Sous-titre"/>
          <p:cNvSpPr txBox="1"/>
          <p:nvPr/>
        </p:nvSpPr>
        <p:spPr>
          <a:xfrm>
            <a:off x="548640" y="1335024"/>
            <a:ext cx="7680960" cy="365760"/>
          </a:xfrm>
          <a:prstGeom prst="rect">
            <a:avLst/>
          </a:prstGeom>
          <a:noFill/>
          <a:ln/>
        </p:spPr>
        <p:txBody>
          <a:bodyPr wrap="square" lIns="0" tIns="0" rIns="0" bIns="0" rtlCol="0" anchor="t"/>
          <a:lstStyle/>
          <a:p>
            <a:pPr indent="0" marL="0">
              <a:buNone/>
            </a:pPr>
            <a:r>
              <a:rPr lang="en-US" sz="1300" dirty="0">
                <a:solidFill>
                  <a:srgbClr val="4A5A73"/>
                </a:solidFill>
                <a:latin typeface="Montserrat" pitchFamily="34" charset="0"/>
                <a:ea typeface="Montserrat" pitchFamily="34" charset="-122"/>
                <a:cs typeface="Montserrat" pitchFamily="34" charset="-120"/>
              </a:rPr>
              <a:t>Prolonger « Life is a marathon » : les équipes deviennent la voix de la marque.</a:t>
            </a:r>
            <a:endParaRPr lang="en-US" sz="1300" dirty="0"/>
          </a:p>
        </p:txBody>
      </p:sp>
      <p:sp>
        <p:nvSpPr>
          <p:cNvPr id="9" name="Citation fond"/>
          <p:cNvSpPr/>
          <p:nvPr/>
        </p:nvSpPr>
        <p:spPr>
          <a:xfrm>
            <a:off x="548640" y="1828800"/>
            <a:ext cx="3657600" cy="2834640"/>
          </a:xfrm>
          <a:prstGeom prst="roundRect">
            <a:avLst>
              <a:gd name="adj" fmla="val 5161"/>
            </a:avLst>
          </a:prstGeom>
          <a:solidFill>
            <a:srgbClr val="0B2D5B"/>
          </a:solidFill>
          <a:ln/>
        </p:spPr>
      </p:sp>
      <p:sp>
        <p:nvSpPr>
          <p:cNvPr id="10" name="Bulle citation 1"/>
          <p:cNvSpPr/>
          <p:nvPr/>
        </p:nvSpPr>
        <p:spPr>
          <a:xfrm>
            <a:off x="3611880" y="1965960"/>
            <a:ext cx="384048" cy="384048"/>
          </a:xfrm>
          <a:prstGeom prst="ellipse">
            <a:avLst/>
          </a:prstGeom>
          <a:solidFill>
            <a:srgbClr val="FFFFFF">
              <a:alpha val="12000"/>
            </a:srgbClr>
          </a:solidFill>
          <a:ln/>
        </p:spPr>
      </p:sp>
      <p:sp>
        <p:nvSpPr>
          <p:cNvPr id="11" name="Bulle citation 2"/>
          <p:cNvSpPr/>
          <p:nvPr/>
        </p:nvSpPr>
        <p:spPr>
          <a:xfrm>
            <a:off x="3401568" y="2176272"/>
            <a:ext cx="137160" cy="137160"/>
          </a:xfrm>
          <a:prstGeom prst="ellipse">
            <a:avLst/>
          </a:prstGeom>
          <a:solidFill>
            <a:srgbClr val="F7931E"/>
          </a:solidFill>
          <a:ln/>
        </p:spPr>
      </p:sp>
      <p:sp>
        <p:nvSpPr>
          <p:cNvPr id="12" name="Citation"/>
          <p:cNvSpPr txBox="1"/>
          <p:nvPr/>
        </p:nvSpPr>
        <p:spPr>
          <a:xfrm>
            <a:off x="822960" y="2423160"/>
            <a:ext cx="3108960" cy="1645920"/>
          </a:xfrm>
          <a:prstGeom prst="rect">
            <a:avLst/>
          </a:prstGeom>
          <a:noFill/>
          <a:ln/>
        </p:spPr>
        <p:txBody>
          <a:bodyPr wrap="square" lIns="0" tIns="0" rIns="0" bIns="0" rtlCol="0" anchor="t"/>
          <a:lstStyle/>
          <a:p>
            <a:pPr indent="0" marL="0">
              <a:buNone/>
            </a:pPr>
            <a:r>
              <a:rPr lang="en-US" sz="2000" b="1" dirty="0">
                <a:solidFill>
                  <a:srgbClr val="FFFFFF"/>
                </a:solidFill>
                <a:latin typeface="Montserrat" pitchFamily="34" charset="0"/>
                <a:ea typeface="Montserrat" pitchFamily="34" charset="-122"/>
                <a:cs typeface="Montserrat" pitchFamily="34" charset="-120"/>
              </a:rPr>
              <a:t>« Ceux qui fabriquent HydraFizz à Agen deviennent ses premiers ambassadeurs. »</a:t>
            </a:r>
            <a:endParaRPr lang="en-US" sz="2000" dirty="0"/>
          </a:p>
        </p:txBody>
      </p:sp>
      <p:sp>
        <p:nvSpPr>
          <p:cNvPr id="13" name="Citation source"/>
          <p:cNvSpPr txBox="1"/>
          <p:nvPr/>
        </p:nvSpPr>
        <p:spPr>
          <a:xfrm>
            <a:off x="822960" y="4160520"/>
            <a:ext cx="3108960" cy="320040"/>
          </a:xfrm>
          <a:prstGeom prst="rect">
            <a:avLst/>
          </a:prstGeom>
          <a:noFill/>
          <a:ln/>
        </p:spPr>
        <p:txBody>
          <a:bodyPr wrap="square" lIns="0" tIns="0" rIns="0" bIns="0" rtlCol="0" anchor="ctr"/>
          <a:lstStyle/>
          <a:p>
            <a:pPr indent="0" marL="0">
              <a:buNone/>
            </a:pPr>
            <a:r>
              <a:rPr lang="en-US" sz="1100" i="1" dirty="0">
                <a:solidFill>
                  <a:srgbClr val="F7931E"/>
                </a:solidFill>
                <a:latin typeface="Montserrat" pitchFamily="34" charset="0"/>
                <a:ea typeface="Montserrat" pitchFamily="34" charset="-122"/>
                <a:cs typeface="Montserrat" pitchFamily="34" charset="-120"/>
              </a:rPr>
              <a:t>Dans la lignée de « Life is a marathon »</a:t>
            </a:r>
            <a:endParaRPr lang="en-US" sz="1100" dirty="0"/>
          </a:p>
        </p:txBody>
      </p:sp>
      <p:sp>
        <p:nvSpPr>
          <p:cNvPr id="14" name="Action 1 circle"/>
          <p:cNvSpPr/>
          <p:nvPr/>
        </p:nvSpPr>
        <p:spPr>
          <a:xfrm>
            <a:off x="4572000" y="1828800"/>
            <a:ext cx="420624" cy="420624"/>
          </a:xfrm>
          <a:prstGeom prst="ellipse">
            <a:avLst/>
          </a:prstGeom>
          <a:solidFill>
            <a:srgbClr val="F7931E"/>
          </a:solidFill>
          <a:ln/>
        </p:spPr>
      </p:sp>
      <p:pic>
        <p:nvPicPr>
          <p:cNvPr id="15" name="Action 1 icon" descr="preencoded.png">    </p:cNvPr>
          <p:cNvPicPr>
            <a:picLocks noChangeAspect="1"/>
          </p:cNvPicPr>
          <p:nvPr/>
        </p:nvPicPr>
        <p:blipFill>
          <a:blip r:embed="rId1"/>
          <a:stretch>
            <a:fillRect/>
          </a:stretch>
        </p:blipFill>
        <p:spPr>
          <a:xfrm>
            <a:off x="4677156" y="1933956"/>
            <a:ext cx="210312" cy="210312"/>
          </a:xfrm>
          <a:prstGeom prst="rect">
            <a:avLst/>
          </a:prstGeom>
        </p:spPr>
      </p:pic>
      <p:sp>
        <p:nvSpPr>
          <p:cNvPr id="16" name="Action 1 texte"/>
          <p:cNvSpPr txBox="1"/>
          <p:nvPr/>
        </p:nvSpPr>
        <p:spPr>
          <a:xfrm>
            <a:off x="5166360" y="1792224"/>
            <a:ext cx="3429000" cy="676656"/>
          </a:xfrm>
          <a:prstGeom prst="rect">
            <a:avLst/>
          </a:prstGeom>
          <a:noFill/>
          <a:ln/>
        </p:spPr>
        <p:txBody>
          <a:bodyPr wrap="square" lIns="0" tIns="0" rIns="0" bIns="0" rtlCol="0" anchor="t"/>
          <a:lstStyle/>
          <a:p>
            <a:pPr indent="0" marL="0">
              <a:buNone/>
            </a:pPr>
            <a:r>
              <a:rPr lang="en-US" sz="1300" b="1" dirty="0">
                <a:solidFill>
                  <a:srgbClr val="0B2D5B"/>
                </a:solidFill>
                <a:latin typeface="Montserrat" pitchFamily="34" charset="0"/>
                <a:ea typeface="Montserrat" pitchFamily="34" charset="-122"/>
                <a:cs typeface="Montserrat" pitchFamily="34" charset="-120"/>
              </a:rPr>
              <a:t>Un défi bien-être par mois</a:t>
            </a:r>
            <a:endParaRPr lang="en-US" sz="1300" dirty="0"/>
          </a:p>
          <a:p>
            <a:pPr indent="0" marL="0">
              <a:buNone/>
            </a:pPr>
            <a:r>
              <a:rPr lang="en-US" sz="1200" dirty="0">
                <a:solidFill>
                  <a:srgbClr val="14213D"/>
                </a:solidFill>
                <a:latin typeface="Montserrat" pitchFamily="34" charset="0"/>
                <a:ea typeface="Montserrat" pitchFamily="34" charset="-122"/>
                <a:cs typeface="Montserrat" pitchFamily="34" charset="-120"/>
              </a:rPr>
              <a:t>Pas, pauses actives, hydratation : un challenge convivial entre équipes.</a:t>
            </a:r>
            <a:endParaRPr lang="en-US" sz="1300" dirty="0"/>
          </a:p>
        </p:txBody>
      </p:sp>
      <p:sp>
        <p:nvSpPr>
          <p:cNvPr id="17" name="Action 2 circle"/>
          <p:cNvSpPr/>
          <p:nvPr/>
        </p:nvSpPr>
        <p:spPr>
          <a:xfrm>
            <a:off x="4572000" y="2578608"/>
            <a:ext cx="420624" cy="420624"/>
          </a:xfrm>
          <a:prstGeom prst="ellipse">
            <a:avLst/>
          </a:prstGeom>
          <a:solidFill>
            <a:srgbClr val="F7931E"/>
          </a:solidFill>
          <a:ln/>
        </p:spPr>
      </p:sp>
      <p:pic>
        <p:nvPicPr>
          <p:cNvPr id="18" name="Action 2 icon" descr="preencoded.png">    </p:cNvPr>
          <p:cNvPicPr>
            <a:picLocks noChangeAspect="1"/>
          </p:cNvPicPr>
          <p:nvPr/>
        </p:nvPicPr>
        <p:blipFill>
          <a:blip r:embed="rId2"/>
          <a:stretch>
            <a:fillRect/>
          </a:stretch>
        </p:blipFill>
        <p:spPr>
          <a:xfrm>
            <a:off x="4677156" y="2683764"/>
            <a:ext cx="210312" cy="210312"/>
          </a:xfrm>
          <a:prstGeom prst="rect">
            <a:avLst/>
          </a:prstGeom>
        </p:spPr>
      </p:pic>
      <p:sp>
        <p:nvSpPr>
          <p:cNvPr id="19" name="Action 2 texte"/>
          <p:cNvSpPr txBox="1"/>
          <p:nvPr/>
        </p:nvSpPr>
        <p:spPr>
          <a:xfrm>
            <a:off x="5166360" y="2542032"/>
            <a:ext cx="3429000" cy="676656"/>
          </a:xfrm>
          <a:prstGeom prst="rect">
            <a:avLst/>
          </a:prstGeom>
          <a:noFill/>
          <a:ln/>
        </p:spPr>
        <p:txBody>
          <a:bodyPr wrap="square" lIns="0" tIns="0" rIns="0" bIns="0" rtlCol="0" anchor="t"/>
          <a:lstStyle/>
          <a:p>
            <a:pPr indent="0" marL="0">
              <a:buNone/>
            </a:pPr>
            <a:r>
              <a:rPr lang="en-US" sz="1300" b="1" dirty="0">
                <a:solidFill>
                  <a:srgbClr val="0B2D5B"/>
                </a:solidFill>
                <a:latin typeface="Montserrat" pitchFamily="34" charset="0"/>
                <a:ea typeface="Montserrat" pitchFamily="34" charset="-122"/>
                <a:cs typeface="Montserrat" pitchFamily="34" charset="-120"/>
              </a:rPr>
              <a:t>Des portraits sur LinkedIn</a:t>
            </a:r>
            <a:endParaRPr lang="en-US" sz="1300" dirty="0"/>
          </a:p>
          <a:p>
            <a:pPr indent="0" marL="0">
              <a:buNone/>
            </a:pPr>
            <a:r>
              <a:rPr lang="en-US" sz="1200" dirty="0">
                <a:solidFill>
                  <a:srgbClr val="14213D"/>
                </a:solidFill>
                <a:latin typeface="Montserrat" pitchFamily="34" charset="0"/>
                <a:ea typeface="Montserrat" pitchFamily="34" charset="-122"/>
                <a:cs typeface="Montserrat" pitchFamily="34" charset="-120"/>
              </a:rPr>
              <a:t>Les collaborateurs racontent leur « épreuve du quotidien » au travail.</a:t>
            </a:r>
            <a:endParaRPr lang="en-US" sz="1300" dirty="0"/>
          </a:p>
        </p:txBody>
      </p:sp>
      <p:sp>
        <p:nvSpPr>
          <p:cNvPr id="20" name="KPI"/>
          <p:cNvSpPr txBox="1"/>
          <p:nvPr/>
        </p:nvSpPr>
        <p:spPr>
          <a:xfrm>
            <a:off x="4572000" y="3364992"/>
            <a:ext cx="4023360" cy="411480"/>
          </a:xfrm>
          <a:prstGeom prst="rect">
            <a:avLst/>
          </a:prstGeom>
          <a:noFill/>
          <a:ln/>
        </p:spPr>
        <p:txBody>
          <a:bodyPr wrap="square" lIns="0" tIns="0" rIns="0" bIns="0" rtlCol="0" anchor="ctr"/>
          <a:lstStyle/>
          <a:p>
            <a:pPr indent="0" marL="0">
              <a:buNone/>
            </a:pPr>
            <a:r>
              <a:rPr lang="en-US" sz="1200" b="1" dirty="0">
                <a:solidFill>
                  <a:srgbClr val="B95E00"/>
                </a:solidFill>
                <a:latin typeface="Montserrat" pitchFamily="34" charset="0"/>
                <a:ea typeface="Montserrat" pitchFamily="34" charset="-122"/>
                <a:cs typeface="Montserrat" pitchFamily="34" charset="-120"/>
              </a:rPr>
              <a:t>KPI  </a:t>
            </a:r>
            <a:pPr indent="0" marL="0">
              <a:buNone/>
            </a:pPr>
            <a:r>
              <a:rPr lang="en-US" sz="1200" dirty="0">
                <a:solidFill>
                  <a:srgbClr val="14213D"/>
                </a:solidFill>
                <a:latin typeface="Montserrat" pitchFamily="34" charset="0"/>
                <a:ea typeface="Montserrat" pitchFamily="34" charset="-122"/>
                <a:cs typeface="Montserrat" pitchFamily="34" charset="-120"/>
              </a:rPr>
              <a:t>Taux de participation interne · portée organique des posts LinkedIn</a:t>
            </a:r>
            <a:endParaRPr lang="en-US" sz="1200" dirty="0"/>
          </a:p>
        </p:txBody>
      </p:sp>
      <p:sp>
        <p:nvSpPr>
          <p:cNvPr id="21" name="Pourquoi moi fond"/>
          <p:cNvSpPr/>
          <p:nvPr/>
        </p:nvSpPr>
        <p:spPr>
          <a:xfrm>
            <a:off x="4572000" y="3931920"/>
            <a:ext cx="4023360" cy="731520"/>
          </a:xfrm>
          <a:prstGeom prst="roundRect">
            <a:avLst>
              <a:gd name="adj" fmla="val 15000"/>
            </a:avLst>
          </a:prstGeom>
          <a:solidFill>
            <a:srgbClr val="FFF1E3"/>
          </a:solidFill>
          <a:ln/>
        </p:spPr>
      </p:sp>
      <p:sp>
        <p:nvSpPr>
          <p:cNvPr id="22" name="Pourquoi moi"/>
          <p:cNvSpPr txBox="1"/>
          <p:nvPr/>
        </p:nvSpPr>
        <p:spPr>
          <a:xfrm>
            <a:off x="4754880" y="4023360"/>
            <a:ext cx="3657600" cy="548640"/>
          </a:xfrm>
          <a:prstGeom prst="rect">
            <a:avLst/>
          </a:prstGeom>
          <a:noFill/>
          <a:ln/>
        </p:spPr>
        <p:txBody>
          <a:bodyPr wrap="square" lIns="0" tIns="0" rIns="0" bIns="0" rtlCol="0" anchor="ctr"/>
          <a:lstStyle/>
          <a:p>
            <a:pPr indent="0" marL="0">
              <a:spcAft>
                <a:spcPts val="300"/>
              </a:spcAft>
              <a:buNone/>
            </a:pPr>
            <a:r>
              <a:rPr lang="en-US" sz="1000" b="1" spc="100" kern="0" dirty="0">
                <a:solidFill>
                  <a:srgbClr val="B95E00"/>
                </a:solidFill>
                <a:latin typeface="Montserrat" pitchFamily="34" charset="0"/>
                <a:ea typeface="Montserrat" pitchFamily="34" charset="-122"/>
                <a:cs typeface="Montserrat" pitchFamily="34" charset="-120"/>
              </a:rPr>
              <a:t>POURQUOI MOI</a:t>
            </a:r>
            <a:endParaRPr lang="en-US" sz="1000" dirty="0"/>
          </a:p>
          <a:p>
            <a:pPr indent="0" marL="0">
              <a:spcAft>
                <a:spcPts val="300"/>
              </a:spcAft>
              <a:buNone/>
            </a:pPr>
            <a:r>
              <a:rPr lang="en-US" sz="1200" dirty="0">
                <a:solidFill>
                  <a:srgbClr val="14213D"/>
                </a:solidFill>
                <a:latin typeface="Montserrat" pitchFamily="34" charset="0"/>
                <a:ea typeface="Montserrat" pitchFamily="34" charset="-122"/>
                <a:cs typeface="Montserrat" pitchFamily="34" charset="-120"/>
              </a:rPr>
              <a:t>Cheffe d'équipe des stagiaires Gen 5 et événements internes (Le Group).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D5B"/>
        </a:solidFill>
      </p:bgPr>
    </p:bg>
    <p:spTree>
      <p:nvGrpSpPr>
        <p:cNvPr id="1" name=""/>
        <p:cNvGrpSpPr/>
        <p:nvPr/>
      </p:nvGrpSpPr>
      <p:grpSpPr>
        <a:xfrm>
          <a:off x="0" y="0"/>
          <a:ext cx="0" cy="0"/>
          <a:chOff x="0" y="0"/>
          <a:chExt cx="0" cy="0"/>
        </a:xfrm>
      </p:grpSpPr>
      <p:sp>
        <p:nvSpPr>
          <p:cNvPr id="2" name="Bulle A"/>
          <p:cNvSpPr/>
          <p:nvPr/>
        </p:nvSpPr>
        <p:spPr>
          <a:xfrm>
            <a:off x="182880" y="4526280"/>
            <a:ext cx="502920" cy="502920"/>
          </a:xfrm>
          <a:prstGeom prst="ellipse">
            <a:avLst/>
          </a:prstGeom>
          <a:solidFill>
            <a:srgbClr val="FFFFFF">
              <a:alpha val="10000"/>
            </a:srgbClr>
          </a:solidFill>
          <a:ln/>
        </p:spPr>
      </p:sp>
      <p:sp>
        <p:nvSpPr>
          <p:cNvPr id="3" name="Bulle B"/>
          <p:cNvSpPr/>
          <p:nvPr/>
        </p:nvSpPr>
        <p:spPr>
          <a:xfrm>
            <a:off x="4617720" y="320040"/>
            <a:ext cx="365760" cy="365760"/>
          </a:xfrm>
          <a:prstGeom prst="ellipse">
            <a:avLst/>
          </a:prstGeom>
          <a:solidFill>
            <a:srgbClr val="FFFFFF">
              <a:alpha val="10000"/>
            </a:srgbClr>
          </a:solidFill>
          <a:ln/>
        </p:spPr>
      </p:sp>
      <p:sp>
        <p:nvSpPr>
          <p:cNvPr id="4" name="Bulle C"/>
          <p:cNvSpPr/>
          <p:nvPr/>
        </p:nvSpPr>
        <p:spPr>
          <a:xfrm>
            <a:off x="4937760" y="4526280"/>
            <a:ext cx="182880" cy="182880"/>
          </a:xfrm>
          <a:prstGeom prst="ellipse">
            <a:avLst/>
          </a:prstGeom>
          <a:solidFill>
            <a:srgbClr val="F7931E"/>
          </a:solidFill>
          <a:ln/>
        </p:spPr>
      </p:sp>
      <p:sp>
        <p:nvSpPr>
          <p:cNvPr id="5" name="Surtitre"/>
          <p:cNvSpPr txBox="1"/>
          <p:nvPr/>
        </p:nvSpPr>
        <p:spPr>
          <a:xfrm>
            <a:off x="548640" y="548640"/>
            <a:ext cx="4114800" cy="274320"/>
          </a:xfrm>
          <a:prstGeom prst="rect">
            <a:avLst/>
          </a:prstGeom>
          <a:noFill/>
          <a:ln/>
        </p:spPr>
        <p:txBody>
          <a:bodyPr wrap="square" lIns="0" tIns="0" rIns="0" bIns="0" rtlCol="0" anchor="ctr"/>
          <a:lstStyle/>
          <a:p>
            <a:pPr indent="0" marL="0">
              <a:buNone/>
            </a:pPr>
            <a:r>
              <a:rPr lang="en-US" sz="1100" b="1" spc="200" kern="0" dirty="0">
                <a:solidFill>
                  <a:srgbClr val="F7931E"/>
                </a:solidFill>
                <a:latin typeface="Montserrat" pitchFamily="34" charset="0"/>
                <a:ea typeface="Montserrat" pitchFamily="34" charset="-122"/>
                <a:cs typeface="Montserrat" pitchFamily="34" charset="-120"/>
              </a:rPr>
              <a:t>ON EN PARLE ?</a:t>
            </a:r>
            <a:endParaRPr lang="en-US" sz="1100" dirty="0"/>
          </a:p>
        </p:txBody>
      </p:sp>
      <p:sp>
        <p:nvSpPr>
          <p:cNvPr id="6" name="Nom"/>
          <p:cNvSpPr txBox="1"/>
          <p:nvPr/>
        </p:nvSpPr>
        <p:spPr>
          <a:xfrm>
            <a:off x="548640" y="868680"/>
            <a:ext cx="457200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Ngoc Nhi LUU</a:t>
            </a:r>
            <a:endParaRPr lang="en-US" sz="3200" dirty="0"/>
          </a:p>
        </p:txBody>
      </p:sp>
      <p:sp>
        <p:nvSpPr>
          <p:cNvPr id="7" name="Statut"/>
          <p:cNvSpPr txBox="1"/>
          <p:nvPr/>
        </p:nvSpPr>
        <p:spPr>
          <a:xfrm>
            <a:off x="548640" y="1417320"/>
            <a:ext cx="4572000" cy="320040"/>
          </a:xfrm>
          <a:prstGeom prst="rect">
            <a:avLst/>
          </a:prstGeom>
          <a:noFill/>
          <a:ln/>
        </p:spPr>
        <p:txBody>
          <a:bodyPr wrap="square" lIns="0" tIns="0" rIns="0" bIns="0" rtlCol="0" anchor="ctr"/>
          <a:lstStyle/>
          <a:p>
            <a:pPr indent="0" marL="0">
              <a:buNone/>
            </a:pPr>
            <a:r>
              <a:rPr lang="en-US" sz="1300" dirty="0">
                <a:solidFill>
                  <a:srgbClr val="CADCFC"/>
                </a:solidFill>
                <a:latin typeface="Montserrat" pitchFamily="34" charset="0"/>
                <a:ea typeface="Montserrat" pitchFamily="34" charset="-122"/>
                <a:cs typeface="Montserrat" pitchFamily="34" charset="-120"/>
              </a:rPr>
              <a:t>Étudiante en Master Communication · EFAP Paris</a:t>
            </a:r>
            <a:endParaRPr lang="en-US" sz="1300" dirty="0"/>
          </a:p>
        </p:txBody>
      </p:sp>
      <p:sp>
        <p:nvSpPr>
          <p:cNvPr id="8" name="Expérience 1 circle"/>
          <p:cNvSpPr/>
          <p:nvPr/>
        </p:nvSpPr>
        <p:spPr>
          <a:xfrm>
            <a:off x="548640" y="2011680"/>
            <a:ext cx="402336" cy="402336"/>
          </a:xfrm>
          <a:prstGeom prst="ellipse">
            <a:avLst/>
          </a:prstGeom>
          <a:solidFill>
            <a:srgbClr val="F7931E"/>
          </a:solidFill>
          <a:ln/>
        </p:spPr>
      </p:sp>
      <p:pic>
        <p:nvPicPr>
          <p:cNvPr id="9" name="Expérience 1 icon" descr="preencoded.png">    </p:cNvPr>
          <p:cNvPicPr>
            <a:picLocks noChangeAspect="1"/>
          </p:cNvPicPr>
          <p:nvPr/>
        </p:nvPicPr>
        <p:blipFill>
          <a:blip r:embed="rId1"/>
          <a:stretch>
            <a:fillRect/>
          </a:stretch>
        </p:blipFill>
        <p:spPr>
          <a:xfrm>
            <a:off x="649224" y="2112264"/>
            <a:ext cx="201168" cy="201168"/>
          </a:xfrm>
          <a:prstGeom prst="rect">
            <a:avLst/>
          </a:prstGeom>
        </p:spPr>
      </p:pic>
      <p:sp>
        <p:nvSpPr>
          <p:cNvPr id="10" name="Expérience 1 texte"/>
          <p:cNvSpPr txBox="1"/>
          <p:nvPr/>
        </p:nvSpPr>
        <p:spPr>
          <a:xfrm>
            <a:off x="1097280" y="1975104"/>
            <a:ext cx="3931920" cy="512064"/>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Événements diplomatiques</a:t>
            </a:r>
            <a:endParaRPr lang="en-US" sz="1200" dirty="0"/>
          </a:p>
          <a:p>
            <a:pPr indent="0" marL="0">
              <a:buNone/>
            </a:pPr>
            <a:r>
              <a:rPr lang="en-US" sz="1200" dirty="0">
                <a:solidFill>
                  <a:srgbClr val="CADCFC"/>
                </a:solidFill>
                <a:latin typeface="Montserrat" pitchFamily="34" charset="0"/>
                <a:ea typeface="Montserrat" pitchFamily="34" charset="-122"/>
                <a:cs typeface="Montserrat" pitchFamily="34" charset="-120"/>
              </a:rPr>
              <a:t>Ministère des Affaires étrangères du Vietnam</a:t>
            </a:r>
            <a:endParaRPr lang="en-US" sz="1200" dirty="0"/>
          </a:p>
        </p:txBody>
      </p:sp>
      <p:sp>
        <p:nvSpPr>
          <p:cNvPr id="11" name="Expérience 2 circle"/>
          <p:cNvSpPr/>
          <p:nvPr/>
        </p:nvSpPr>
        <p:spPr>
          <a:xfrm>
            <a:off x="548640" y="2633472"/>
            <a:ext cx="402336" cy="402336"/>
          </a:xfrm>
          <a:prstGeom prst="ellipse">
            <a:avLst/>
          </a:prstGeom>
          <a:solidFill>
            <a:srgbClr val="F7931E"/>
          </a:solidFill>
          <a:ln/>
        </p:spPr>
      </p:sp>
      <p:pic>
        <p:nvPicPr>
          <p:cNvPr id="12" name="Expérience 2 icon" descr="preencoded.png">    </p:cNvPr>
          <p:cNvPicPr>
            <a:picLocks noChangeAspect="1"/>
          </p:cNvPicPr>
          <p:nvPr/>
        </p:nvPicPr>
        <p:blipFill>
          <a:blip r:embed="rId2"/>
          <a:stretch>
            <a:fillRect/>
          </a:stretch>
        </p:blipFill>
        <p:spPr>
          <a:xfrm>
            <a:off x="649224" y="2734056"/>
            <a:ext cx="201168" cy="201168"/>
          </a:xfrm>
          <a:prstGeom prst="rect">
            <a:avLst/>
          </a:prstGeom>
        </p:spPr>
      </p:pic>
      <p:sp>
        <p:nvSpPr>
          <p:cNvPr id="13" name="Expérience 2 texte"/>
          <p:cNvSpPr txBox="1"/>
          <p:nvPr/>
        </p:nvSpPr>
        <p:spPr>
          <a:xfrm>
            <a:off x="1097280" y="2596896"/>
            <a:ext cx="3931920" cy="512064"/>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Scripts et montage vidéo</a:t>
            </a:r>
            <a:endParaRPr lang="en-US" sz="1200" dirty="0"/>
          </a:p>
          <a:p>
            <a:pPr indent="0" marL="0">
              <a:buNone/>
            </a:pPr>
            <a:r>
              <a:rPr lang="en-US" sz="1200" dirty="0">
                <a:solidFill>
                  <a:srgbClr val="CADCFC"/>
                </a:solidFill>
                <a:latin typeface="Montserrat" pitchFamily="34" charset="0"/>
                <a:ea typeface="Montserrat" pitchFamily="34" charset="-122"/>
                <a:cs typeface="Montserrat" pitchFamily="34" charset="-120"/>
              </a:rPr>
              <a:t>Hanoi TV</a:t>
            </a:r>
            <a:endParaRPr lang="en-US" sz="1200" dirty="0"/>
          </a:p>
        </p:txBody>
      </p:sp>
      <p:sp>
        <p:nvSpPr>
          <p:cNvPr id="14" name="Expérience 3 circle"/>
          <p:cNvSpPr/>
          <p:nvPr/>
        </p:nvSpPr>
        <p:spPr>
          <a:xfrm>
            <a:off x="548640" y="3255264"/>
            <a:ext cx="402336" cy="402336"/>
          </a:xfrm>
          <a:prstGeom prst="ellipse">
            <a:avLst/>
          </a:prstGeom>
          <a:solidFill>
            <a:srgbClr val="F7931E"/>
          </a:solidFill>
          <a:ln/>
        </p:spPr>
      </p:sp>
      <p:pic>
        <p:nvPicPr>
          <p:cNvPr id="15" name="Expérience 3 icon" descr="preencoded.png">    </p:cNvPr>
          <p:cNvPicPr>
            <a:picLocks noChangeAspect="1"/>
          </p:cNvPicPr>
          <p:nvPr/>
        </p:nvPicPr>
        <p:blipFill>
          <a:blip r:embed="rId3"/>
          <a:stretch>
            <a:fillRect/>
          </a:stretch>
        </p:blipFill>
        <p:spPr>
          <a:xfrm>
            <a:off x="649224" y="3355848"/>
            <a:ext cx="201168" cy="201168"/>
          </a:xfrm>
          <a:prstGeom prst="rect">
            <a:avLst/>
          </a:prstGeom>
        </p:spPr>
      </p:pic>
      <p:sp>
        <p:nvSpPr>
          <p:cNvPr id="16" name="Expérience 3 texte"/>
          <p:cNvSpPr txBox="1"/>
          <p:nvPr/>
        </p:nvSpPr>
        <p:spPr>
          <a:xfrm>
            <a:off x="1097280" y="3218688"/>
            <a:ext cx="3931920" cy="512064"/>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Communication interne</a:t>
            </a:r>
            <a:endParaRPr lang="en-US" sz="1200" dirty="0"/>
          </a:p>
          <a:p>
            <a:pPr indent="0" marL="0">
              <a:buNone/>
            </a:pPr>
            <a:r>
              <a:rPr lang="en-US" sz="1200" dirty="0">
                <a:solidFill>
                  <a:srgbClr val="CADCFC"/>
                </a:solidFill>
                <a:latin typeface="Montserrat" pitchFamily="34" charset="0"/>
                <a:ea typeface="Montserrat" pitchFamily="34" charset="-122"/>
                <a:cs typeface="Montserrat" pitchFamily="34" charset="-120"/>
              </a:rPr>
              <a:t>Le Group of Companies</a:t>
            </a:r>
            <a:endParaRPr lang="en-US" sz="1200" dirty="0"/>
          </a:p>
        </p:txBody>
      </p:sp>
      <p:sp>
        <p:nvSpPr>
          <p:cNvPr id="17" name="Expérience 4 circle"/>
          <p:cNvSpPr/>
          <p:nvPr/>
        </p:nvSpPr>
        <p:spPr>
          <a:xfrm>
            <a:off x="548640" y="3877056"/>
            <a:ext cx="402336" cy="402336"/>
          </a:xfrm>
          <a:prstGeom prst="ellipse">
            <a:avLst/>
          </a:prstGeom>
          <a:solidFill>
            <a:srgbClr val="F7931E"/>
          </a:solidFill>
          <a:ln/>
        </p:spPr>
      </p:sp>
      <p:pic>
        <p:nvPicPr>
          <p:cNvPr id="18" name="Expérience 4 icon" descr="preencoded.png">    </p:cNvPr>
          <p:cNvPicPr>
            <a:picLocks noChangeAspect="1"/>
          </p:cNvPicPr>
          <p:nvPr/>
        </p:nvPicPr>
        <p:blipFill>
          <a:blip r:embed="rId4"/>
          <a:stretch>
            <a:fillRect/>
          </a:stretch>
        </p:blipFill>
        <p:spPr>
          <a:xfrm>
            <a:off x="649224" y="3977640"/>
            <a:ext cx="201168" cy="201168"/>
          </a:xfrm>
          <a:prstGeom prst="rect">
            <a:avLst/>
          </a:prstGeom>
        </p:spPr>
      </p:pic>
      <p:sp>
        <p:nvSpPr>
          <p:cNvPr id="19" name="Expérience 4 texte"/>
          <p:cNvSpPr txBox="1"/>
          <p:nvPr/>
        </p:nvSpPr>
        <p:spPr>
          <a:xfrm>
            <a:off x="1097280" y="3840480"/>
            <a:ext cx="3931920" cy="512064"/>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Social media et contenus</a:t>
            </a:r>
            <a:endParaRPr lang="en-US" sz="1200" dirty="0"/>
          </a:p>
          <a:p>
            <a:pPr indent="0" marL="0">
              <a:buNone/>
            </a:pPr>
            <a:r>
              <a:rPr lang="en-US" sz="1200" dirty="0">
                <a:solidFill>
                  <a:srgbClr val="CADCFC"/>
                </a:solidFill>
                <a:latin typeface="Montserrat" pitchFamily="34" charset="0"/>
                <a:ea typeface="Montserrat" pitchFamily="34" charset="-122"/>
                <a:cs typeface="Montserrat" pitchFamily="34" charset="-120"/>
              </a:rPr>
              <a:t>Duong Cam Art · IB Group</a:t>
            </a:r>
            <a:endParaRPr lang="en-US" sz="1200" dirty="0"/>
          </a:p>
        </p:txBody>
      </p:sp>
      <p:sp>
        <p:nvSpPr>
          <p:cNvPr id="20" name="Carte contact fond"/>
          <p:cNvSpPr/>
          <p:nvPr/>
        </p:nvSpPr>
        <p:spPr>
          <a:xfrm>
            <a:off x="5394960" y="548640"/>
            <a:ext cx="3200400" cy="4069080"/>
          </a:xfrm>
          <a:prstGeom prst="roundRect">
            <a:avLst>
              <a:gd name="adj" fmla="val 5714"/>
            </a:avLst>
          </a:prstGeom>
          <a:solidFill>
            <a:srgbClr val="FFFFFF"/>
          </a:solidFill>
          <a:ln/>
        </p:spPr>
      </p:sp>
      <p:sp>
        <p:nvSpPr>
          <p:cNvPr id="21" name="Appel à l'action"/>
          <p:cNvSpPr txBox="1"/>
          <p:nvPr/>
        </p:nvSpPr>
        <p:spPr>
          <a:xfrm>
            <a:off x="5669280" y="777240"/>
            <a:ext cx="2697480" cy="1051560"/>
          </a:xfrm>
          <a:prstGeom prst="rect">
            <a:avLst/>
          </a:prstGeom>
          <a:noFill/>
          <a:ln/>
        </p:spPr>
        <p:txBody>
          <a:bodyPr wrap="square" lIns="0" tIns="0" rIns="0" bIns="0" rtlCol="0" anchor="t"/>
          <a:lstStyle/>
          <a:p>
            <a:pPr indent="0" marL="0">
              <a:buNone/>
            </a:pPr>
            <a:r>
              <a:rPr lang="en-US" sz="1800" b="1" dirty="0">
                <a:solidFill>
                  <a:srgbClr val="0B2D5B"/>
                </a:solidFill>
                <a:latin typeface="Montserrat" pitchFamily="34" charset="0"/>
                <a:ea typeface="Montserrat" pitchFamily="34" charset="-122"/>
                <a:cs typeface="Montserrat" pitchFamily="34" charset="-120"/>
              </a:rPr>
              <a:t>15 minutes,</a:t>
            </a:r>
            <a:endParaRPr lang="en-US" sz="1800" dirty="0"/>
          </a:p>
          <a:p>
            <a:pPr indent="0" marL="0">
              <a:buNone/>
            </a:pPr>
            <a:r>
              <a:rPr lang="en-US" sz="1800" b="1" dirty="0">
                <a:solidFill>
                  <a:srgbClr val="F7931E"/>
                </a:solidFill>
                <a:latin typeface="Montserrat" pitchFamily="34" charset="0"/>
                <a:ea typeface="Montserrat" pitchFamily="34" charset="-122"/>
                <a:cs typeface="Montserrat" pitchFamily="34" charset="-120"/>
              </a:rPr>
              <a:t>jeudi 22 ou vendredi 23 octobre ?</a:t>
            </a:r>
            <a:endParaRPr lang="en-US" sz="1800" dirty="0"/>
          </a:p>
        </p:txBody>
      </p:sp>
      <p:pic>
        <p:nvPicPr>
          <p:cNvPr id="22" name="Contact 1 icône" descr="preencoded.png">    </p:cNvPr>
          <p:cNvPicPr>
            <a:picLocks noChangeAspect="1"/>
          </p:cNvPicPr>
          <p:nvPr/>
        </p:nvPicPr>
        <p:blipFill>
          <a:blip r:embed="rId5"/>
          <a:stretch>
            <a:fillRect/>
          </a:stretch>
        </p:blipFill>
        <p:spPr>
          <a:xfrm>
            <a:off x="5669280" y="2011680"/>
            <a:ext cx="164592" cy="164592"/>
          </a:xfrm>
          <a:prstGeom prst="rect">
            <a:avLst/>
          </a:prstGeom>
        </p:spPr>
      </p:pic>
      <p:sp>
        <p:nvSpPr>
          <p:cNvPr id="23" name="Contact 1"/>
          <p:cNvSpPr txBox="1"/>
          <p:nvPr/>
        </p:nvSpPr>
        <p:spPr>
          <a:xfrm>
            <a:off x="5943600" y="1965960"/>
            <a:ext cx="2514600" cy="256032"/>
          </a:xfrm>
          <a:prstGeom prst="rect">
            <a:avLst/>
          </a:prstGeom>
          <a:noFill/>
          <a:ln/>
        </p:spPr>
        <p:txBody>
          <a:bodyPr wrap="square" lIns="0" tIns="0" rIns="0" bIns="0" rtlCol="0" anchor="ctr"/>
          <a:lstStyle/>
          <a:p>
            <a:pPr indent="0" marL="0">
              <a:buNone/>
            </a:pPr>
            <a:r>
              <a:rPr lang="en-US" sz="1100" dirty="0">
                <a:solidFill>
                  <a:srgbClr val="14213D"/>
                </a:solidFill>
                <a:latin typeface="Montserrat" pitchFamily="34" charset="0"/>
                <a:ea typeface="Montserrat" pitchFamily="34" charset="-122"/>
                <a:cs typeface="Montserrat" pitchFamily="34" charset="-120"/>
              </a:rPr>
              <a:t>06 68 57 73 85</a:t>
            </a:r>
            <a:endParaRPr lang="en-US" sz="1100" dirty="0"/>
          </a:p>
        </p:txBody>
      </p:sp>
      <p:pic>
        <p:nvPicPr>
          <p:cNvPr id="24" name="Contact 2 icône" descr="preencoded.png">    </p:cNvPr>
          <p:cNvPicPr>
            <a:picLocks noChangeAspect="1"/>
          </p:cNvPicPr>
          <p:nvPr/>
        </p:nvPicPr>
        <p:blipFill>
          <a:blip r:embed="rId6"/>
          <a:stretch>
            <a:fillRect/>
          </a:stretch>
        </p:blipFill>
        <p:spPr>
          <a:xfrm>
            <a:off x="5669280" y="2340864"/>
            <a:ext cx="164592" cy="164592"/>
          </a:xfrm>
          <a:prstGeom prst="rect">
            <a:avLst/>
          </a:prstGeom>
        </p:spPr>
      </p:pic>
      <p:sp>
        <p:nvSpPr>
          <p:cNvPr id="25" name="Contact 2"/>
          <p:cNvSpPr txBox="1"/>
          <p:nvPr/>
        </p:nvSpPr>
        <p:spPr>
          <a:xfrm>
            <a:off x="5943600" y="2295144"/>
            <a:ext cx="2514600" cy="256032"/>
          </a:xfrm>
          <a:prstGeom prst="rect">
            <a:avLst/>
          </a:prstGeom>
          <a:noFill/>
          <a:ln/>
        </p:spPr>
        <p:txBody>
          <a:bodyPr wrap="square" lIns="0" tIns="0" rIns="0" bIns="0" rtlCol="0" anchor="ctr"/>
          <a:lstStyle/>
          <a:p>
            <a:pPr indent="0" marL="0">
              <a:buNone/>
            </a:pPr>
            <a:r>
              <a:rPr lang="en-US" sz="1100" dirty="0">
                <a:solidFill>
                  <a:srgbClr val="14213D"/>
                </a:solidFill>
                <a:latin typeface="Montserrat" pitchFamily="34" charset="0"/>
                <a:ea typeface="Montserrat" pitchFamily="34" charset="-122"/>
                <a:cs typeface="Montserrat" pitchFamily="34" charset="-120"/>
              </a:rPr>
              <a:t>luungocnhi654@gmail.com</a:t>
            </a:r>
            <a:endParaRPr lang="en-US" sz="1100" dirty="0"/>
          </a:p>
        </p:txBody>
      </p:sp>
      <p:pic>
        <p:nvPicPr>
          <p:cNvPr id="26" name="Contact 3 icône" descr="preencoded.png">    </p:cNvPr>
          <p:cNvPicPr>
            <a:picLocks noChangeAspect="1"/>
          </p:cNvPicPr>
          <p:nvPr/>
        </p:nvPicPr>
        <p:blipFill>
          <a:blip r:embed="rId7"/>
          <a:stretch>
            <a:fillRect/>
          </a:stretch>
        </p:blipFill>
        <p:spPr>
          <a:xfrm>
            <a:off x="5669280" y="2670048"/>
            <a:ext cx="164592" cy="164592"/>
          </a:xfrm>
          <a:prstGeom prst="rect">
            <a:avLst/>
          </a:prstGeom>
        </p:spPr>
      </p:pic>
      <p:sp>
        <p:nvSpPr>
          <p:cNvPr id="27" name="Contact 3"/>
          <p:cNvSpPr txBox="1"/>
          <p:nvPr/>
        </p:nvSpPr>
        <p:spPr>
          <a:xfrm>
            <a:off x="5943600" y="2624328"/>
            <a:ext cx="2514600" cy="256032"/>
          </a:xfrm>
          <a:prstGeom prst="rect">
            <a:avLst/>
          </a:prstGeom>
          <a:noFill/>
          <a:ln/>
        </p:spPr>
        <p:txBody>
          <a:bodyPr wrap="square" lIns="0" tIns="0" rIns="0" bIns="0" rtlCol="0" anchor="ctr"/>
          <a:lstStyle/>
          <a:p>
            <a:pPr indent="0" marL="0">
              <a:buNone/>
            </a:pPr>
            <a:r>
              <a:rPr lang="en-US" sz="1100" dirty="0">
                <a:solidFill>
                  <a:srgbClr val="14213D"/>
                </a:solidFill>
                <a:latin typeface="Montserrat" pitchFamily="34" charset="0"/>
                <a:ea typeface="Montserrat" pitchFamily="34" charset="-122"/>
                <a:cs typeface="Montserrat" pitchFamily="34" charset="-120"/>
              </a:rPr>
              <a:t>Portfolio Wix Studio</a:t>
            </a:r>
            <a:endParaRPr lang="en-US" sz="1100" dirty="0"/>
          </a:p>
        </p:txBody>
      </p:sp>
      <p:pic>
        <p:nvPicPr>
          <p:cNvPr id="28" name="QR code portfolio" descr="preencoded.png">    </p:cNvPr>
          <p:cNvPicPr>
            <a:picLocks noChangeAspect="1"/>
          </p:cNvPicPr>
          <p:nvPr/>
        </p:nvPicPr>
        <p:blipFill>
          <a:blip r:embed="rId8"/>
          <a:stretch>
            <a:fillRect/>
          </a:stretch>
        </p:blipFill>
        <p:spPr>
          <a:xfrm>
            <a:off x="5669280" y="3108960"/>
            <a:ext cx="1188720" cy="1188720"/>
          </a:xfrm>
          <a:prstGeom prst="rect">
            <a:avLst/>
          </a:prstGeom>
        </p:spPr>
      </p:pic>
      <p:sp>
        <p:nvSpPr>
          <p:cNvPr id="29" name="Légende QR code"/>
          <p:cNvSpPr txBox="1"/>
          <p:nvPr/>
        </p:nvSpPr>
        <p:spPr>
          <a:xfrm>
            <a:off x="6995160" y="3337560"/>
            <a:ext cx="1417320" cy="731520"/>
          </a:xfrm>
          <a:prstGeom prst="rect">
            <a:avLst/>
          </a:prstGeom>
          <a:noFill/>
          <a:ln/>
        </p:spPr>
        <p:txBody>
          <a:bodyPr wrap="square" lIns="0" tIns="0" rIns="0" bIns="0" rtlCol="0" anchor="ctr"/>
          <a:lstStyle/>
          <a:p>
            <a:pPr indent="0" marL="0">
              <a:buNone/>
            </a:pPr>
            <a:r>
              <a:rPr lang="en-US" sz="1100" dirty="0">
                <a:solidFill>
                  <a:srgbClr val="4A5A73"/>
                </a:solidFill>
                <a:latin typeface="Montserrat" pitchFamily="34" charset="0"/>
                <a:ea typeface="Montserrat" pitchFamily="34" charset="-122"/>
                <a:cs typeface="Montserrat" pitchFamily="34" charset="-120"/>
              </a:rPr>
              <a:t>Scannez pour voir mon portfolio</a:t>
            </a:r>
            <a:endParaRPr lang="en-US" sz="1100" dirty="0"/>
          </a:p>
        </p:txBody>
      </p:sp>
    </p:spTree>
  </p:cSld>
  <p:clrMapOvr>
    <a:masterClrMapping/>
  </p:clrMapOvr>
</p:sld>
</file>

<file path=ppt/theme/theme1.xml><?xml version="1.0" encoding="utf-8"?>
<a:theme xmlns:a="http://schemas.openxmlformats.org/drawingml/2006/main" name="HydraFizz Proposition">
  <a:themeElements>
    <a:clrScheme name="HydraFizz Proposition">
      <a:dk1>
        <a:srgbClr val="14213D"/>
      </a:dk1>
      <a:lt1>
        <a:srgbClr val="FFFFFF"/>
      </a:lt1>
      <a:dk2>
        <a:srgbClr val="0B2D5B"/>
      </a:dk2>
      <a:lt2>
        <a:srgbClr val="E3F1FC"/>
      </a:lt2>
      <a:accent1>
        <a:srgbClr val="F7931E"/>
      </a:accent1>
      <a:accent2>
        <a:srgbClr val="1E6FD9"/>
      </a:accent2>
      <a:accent3>
        <a:srgbClr val="0B2D5B"/>
      </a:accent3>
      <a:accent4>
        <a:srgbClr val="B95E00"/>
      </a:accent4>
      <a:accent5>
        <a:srgbClr val="7FB3F0"/>
      </a:accent5>
      <a:accent6>
        <a:srgbClr val="5B6B82"/>
      </a:accent6>
      <a:hlink>
        <a:srgbClr val="1E6FD9"/>
      </a:hlink>
      <a:folHlink>
        <a:srgbClr val="6D5BD0"/>
      </a:folHlink>
    </a:clrScheme>
    <a:fontScheme name="HydraFizz Proposition">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HydraFizz – 3 idées pour les athlètes du quotidien</dc:title>
  <dc:subject>PptxGenJS Presentation</dc:subject>
  <dc:creator>Ngoc Nhi LUU</dc:creator>
  <cp:lastModifiedBy>Ngoc Nhi LUU</cp:lastModifiedBy>
  <cp:revision>1</cp:revision>
  <dcterms:created xsi:type="dcterms:W3CDTF">2026-10-14T16:09:19Z</dcterms:created>
  <dcterms:modified xsi:type="dcterms:W3CDTF">2026-10-14T16:09:19Z</dcterms:modified>
</cp:coreProperties>
</file>